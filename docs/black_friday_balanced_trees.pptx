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" charset="1" panose="02000503000000020004"/>
      <p:regular r:id="rId19"/>
    </p:embeddedFont>
    <p:embeddedFont>
      <p:font typeface="Inter Bold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Contexto: faturamento da Black Friday sobe 20,7% (Reuters/UOL). O sistema de logística precisa lidar com inserções, remoções e buscas em tempo real. Dados sequenciais ou imprevisíveis degradam árvores de busca sem balanceamento — a escolha da estrutura define se a operação fica eficiente ou trava.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Durante os picos da Black Friday, identificadores de encomendas chegam em blocos ordenados. Em uma BST sem balanceamento isso faz os nós crescerem para um único lado e a árvore degenera em lista encadeada: busca e inserção passam de O(log n) para O(n), e o sistema trava sob alta carga. Com 10.000 IDs crescentes, a BST simples teria 10.000 níveis; a AVL fica com 14 e a Rubro-Negra com 24 (medido nos testes).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Três entregas: (01) o motor em C++ sem bibliotecas de terceiros, com controle de memória; (02) o simulador interativo para operar as árvores como na Black Friday; (03) a automação de métricas: testes de corretude (cada operação conferida contra std::set e invariantes de AVL e Rubro-Negra) e benchmark com tempo, altura e rotações exportado em CSV.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AVL: tolerância zero para desorganização — a diferença de altura entre as subárvores nunca passa de 1, o que garante o caminho de busca mais curto possível. O custo está na entrada de dados: cada lote sequencial força rotações para restaurar a simetria. Ideal para catálogos estáticos, com leitura massiva e inserção rara. Nos testes com 100 mil inserções aleatórias, foram 69.764 rotações contra 58.230 da Rubro-Negra.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Rubro-Negra: em vez de simetria perfeita, usa tags de cor (vermelho/preto) com regras locais. O caminho mais longo pode ter até o dobro do mais curto — essa folga absorve picos de tráfego sem reorganizar a estrutura. Na maioria das violações, basta repintar nós; rotações só ocorrem em último caso. Ideal para sistemas de alta volatilidade, com inserção e remoção frequentes.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Inserção: o sistema recebe o novo ID e bloqueia duplicatas. Remoção: o nó é excluído e o algoritmo reorganiza ponteiros, cores e alturas; remover ID inexistente é tratado com segurança. Busca: percorre o caminho balanceado até o ID. Visualização: renderizador nativo no terminal (nós direitos primeiro; [R] vermelho, [B] preto na Rubro-Negra). Há também a opção 6 do menu, que verifica os invariantes da árvore.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Quatro cenários (inserção crescente, decrescente e aleatória, e remoção aleatória) em três tamanhos: 10K, 50K e 100K inserções; remoção da metade (5K, 25K, 50K). Métricas: tempo de execução, altura da árvore e rotações, com média de 5 execuções e semente fixa (reprodutível). Cada operação foi conferida contra um std::set e os invariantes foram verificados (AVL: ordem, fator de balanço e altura; RB: raiz preta, sem vermelho-vermelho, altura-negra e ponteiros pai). Também foram cobertos casos-limite: árvore vazia, nó único, duplicatas e remoção/busca de IDs inexistentes.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AVL mantém a árvore mais baixa (17 níveis contra 31 na inserção ordenada de 100 mil elementos), o que favorece a leitura. Já na inserção aleatória a Rubro-Negra faz ~17% menos rotações (58.230 contra 69.764) e, na remoção, os custos são praticamente iguais (21.089 contra 21.943). Na inserção ordenada ambas fazem ~1 rotação por operação. A altura da RB continua logarítmica (31 níveis, abaixo do limite teórico de 2·log2(n+1)).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Tempo médio de 5 execuções, com a mesma entrada para as duas árvores. A Rubro-Negra foi mais rápida em todos os cenários: ~4× na inserção ordenada (53,9 → 13,4 ms; 45,3 → 11,6 ms na decrescente), ~2× na inserção aleatória (68,2 → 33,3 ms) e ~1,9× na remoção aleatória de 50K (40,2 → 21,2 ms). As curvas seguem o padrão O(n log n).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Veredito: Rubro-Negra. (1) Escrita mais rápida: ~4× na inserção ordenada e ~2× na aleatória. (2) Menos rotações na inserção aleatória (-17%), o que alivia a CPU nos horários de pico. (3) Altura limitada a O(log n): 31 níveis para 100 mil itens, o suficiente para buscas rápidas. Ressalva honesta: a AVL é mais baixa (17 níveis) e continua melhor se o sistema for dominado por leitura; a busca em si não foi cronometrada.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9.png" Type="http://schemas.openxmlformats.org/officeDocument/2006/relationships/image"/><Relationship Id="rId17" Target="../media/image1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jpe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5.png" Type="http://schemas.openxmlformats.org/officeDocument/2006/relationships/image"/><Relationship Id="rId4" Target="../media/image24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5.png" Type="http://schemas.openxmlformats.org/officeDocument/2006/relationships/image"/><Relationship Id="rId15" Target="../media/image6.svg" Type="http://schemas.openxmlformats.org/officeDocument/2006/relationships/image"/><Relationship Id="rId16" Target="../media/image7.png" Type="http://schemas.openxmlformats.org/officeDocument/2006/relationships/image"/><Relationship Id="rId17" Target="../media/image8.sv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4.jpe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4.jpe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37.png" Type="http://schemas.openxmlformats.org/officeDocument/2006/relationships/image"/><Relationship Id="rId4" Target="../media/image24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8.jpeg" Type="http://schemas.openxmlformats.org/officeDocument/2006/relationships/image"/><Relationship Id="rId4" Target="../media/image24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https://github.com/rterminus/balanced_trees/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028588"/>
            <a:ext cx="16199996" cy="1389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0"/>
              </a:lnSpc>
            </a:pPr>
            <a:r>
              <a:rPr lang="en-US" sz="10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Logística Black Friday:</a:t>
            </a:r>
          </a:p>
        </p:txBody>
      </p:sp>
      <p:sp>
        <p:nvSpPr>
          <p:cNvPr name="AutoShape 6" id="6"/>
          <p:cNvSpPr/>
          <p:nvPr/>
        </p:nvSpPr>
        <p:spPr>
          <a:xfrm rot="4020">
            <a:off x="944032" y="8038929"/>
            <a:ext cx="1632479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77405"/>
            <a:ext cx="1651740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800" spc="-100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Presented by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968740"/>
            <a:ext cx="345015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spc="-100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Renan Pontes, Tech Lead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13389" y="8827722"/>
            <a:ext cx="2763917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0"/>
              </a:lnSpc>
            </a:pPr>
            <a:r>
              <a:rPr lang="en-US" sz="1800" b="true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Website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13389" y="9111615"/>
            <a:ext cx="2841041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0"/>
              </a:lnSpc>
            </a:pPr>
            <a:r>
              <a:rPr lang="en-US" sz="1800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www.rterminus.com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281592"/>
            <a:ext cx="16199996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spc="-3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Otimização de eficiência com árvores balanceadas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4706" y="263290"/>
            <a:ext cx="9045178" cy="9615764"/>
          </a:xfrm>
          <a:custGeom>
            <a:avLst/>
            <a:gdLst/>
            <a:ahLst/>
            <a:cxnLst/>
            <a:rect r="r" b="b" t="t" l="l"/>
            <a:pathLst>
              <a:path h="9615764" w="9045178">
                <a:moveTo>
                  <a:pt x="0" y="0"/>
                </a:moveTo>
                <a:lnTo>
                  <a:pt x="9045178" y="0"/>
                </a:lnTo>
                <a:lnTo>
                  <a:pt x="9045178" y="9615764"/>
                </a:lnTo>
                <a:lnTo>
                  <a:pt x="0" y="9615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100002"/>
            <a:ext cx="6683111" cy="21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Tópicos</a:t>
            </a:r>
          </a:p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Abordados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73444" y="1448591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3444" y="2262388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8432" y="1448591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68432" y="2262388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Desafio técnico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3444" y="3076175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68432" y="3076175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Solução desenvolvida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3444" y="3889972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68432" y="3889972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Árvore AVL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73444" y="4703769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68432" y="4703769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Árvore Rubro-Negra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3444" y="5517556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68432" y="5517556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Demonstração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3444" y="6331353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8432" y="6331353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Testes realizados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3444" y="7145150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68432" y="7145150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Análise comparativa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3444" y="7958947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68432" y="7958947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Recomendação técnica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3444" y="8772735"/>
            <a:ext cx="93083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68432" y="8772735"/>
            <a:ext cx="546697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Referências e repositório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92304" y="-206664"/>
            <a:ext cx="5999359" cy="4744222"/>
            <a:chOff x="0" y="0"/>
            <a:chExt cx="7999146" cy="6325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99095" cy="6325616"/>
            </a:xfrm>
            <a:custGeom>
              <a:avLst/>
              <a:gdLst/>
              <a:ahLst/>
              <a:cxnLst/>
              <a:rect r="r" b="b" t="t" l="l"/>
              <a:pathLst>
                <a:path h="6325616" w="7999095">
                  <a:moveTo>
                    <a:pt x="0" y="0"/>
                  </a:moveTo>
                  <a:lnTo>
                    <a:pt x="7999095" y="0"/>
                  </a:lnTo>
                  <a:lnTo>
                    <a:pt x="7999095" y="6325616"/>
                  </a:lnTo>
                  <a:lnTo>
                    <a:pt x="0" y="6325616"/>
                  </a:lnTo>
                  <a:close/>
                </a:path>
              </a:pathLst>
            </a:custGeom>
            <a:blipFill>
              <a:blip r:embed="rId3"/>
              <a:stretch>
                <a:fillRect l="-9290" t="0" r="-92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1328" y="4537558"/>
            <a:ext cx="5830976" cy="5749442"/>
            <a:chOff x="0" y="0"/>
            <a:chExt cx="7774635" cy="76659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74686" cy="7665974"/>
            </a:xfrm>
            <a:custGeom>
              <a:avLst/>
              <a:gdLst/>
              <a:ahLst/>
              <a:cxnLst/>
              <a:rect r="r" b="b" t="t" l="l"/>
              <a:pathLst>
                <a:path h="7665974" w="7774686">
                  <a:moveTo>
                    <a:pt x="0" y="0"/>
                  </a:moveTo>
                  <a:lnTo>
                    <a:pt x="7774686" y="0"/>
                  </a:lnTo>
                  <a:lnTo>
                    <a:pt x="7774686" y="7665974"/>
                  </a:lnTo>
                  <a:lnTo>
                    <a:pt x="0" y="7665974"/>
                  </a:lnTo>
                  <a:close/>
                </a:path>
              </a:pathLst>
            </a:custGeom>
            <a:blipFill>
              <a:blip r:embed="rId4"/>
              <a:stretch>
                <a:fillRect l="0" t="-26063" r="0" b="-2606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192847"/>
            <a:ext cx="5299996" cy="496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2900" spc="-72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Na Black Friday, o faturamento sobe </a:t>
            </a:r>
            <a:r>
              <a:rPr lang="en-US" b="true" sz="2900" spc="-72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20,7%</a:t>
            </a:r>
            <a:r>
              <a:rPr lang="en-US" sz="2900" spc="-72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, e o tráfego dispara.</a:t>
            </a:r>
          </a:p>
          <a:p>
            <a:pPr algn="l">
              <a:lnSpc>
                <a:spcPts val="4106"/>
              </a:lnSpc>
            </a:pPr>
            <a:r>
              <a:rPr lang="en-US" sz="2900" spc="-72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O sistema precisa processar inserções, remoções e buscas de milhares de encomendas em tempo real.</a:t>
            </a:r>
          </a:p>
          <a:p>
            <a:pPr algn="l">
              <a:lnSpc>
                <a:spcPts val="4106"/>
              </a:lnSpc>
            </a:pPr>
            <a:r>
              <a:rPr lang="en-US" b="true" sz="2900" spc="-72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E aí nasce o gargalo estrutural.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68614" y="5112372"/>
            <a:ext cx="3890000" cy="44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Dados sequenciais ou imprevisíveis degradam árvores de busca ingênuas.</a:t>
            </a:r>
          </a:p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O balanceamento certo define se o sistema fica </a:t>
            </a:r>
            <a:r>
              <a:rPr lang="en-US" b="true" sz="2600" spc="-6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eficiente</a:t>
            </a: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 ou </a:t>
            </a:r>
            <a:r>
              <a:rPr lang="en-US" b="true" sz="2600" spc="-6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trava</a:t>
            </a: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4033" y="3450003"/>
            <a:ext cx="2749334" cy="762438"/>
          </a:xfrm>
          <a:custGeom>
            <a:avLst/>
            <a:gdLst/>
            <a:ahLst/>
            <a:cxnLst/>
            <a:rect r="r" b="b" t="t" l="l"/>
            <a:pathLst>
              <a:path h="762438" w="2749334">
                <a:moveTo>
                  <a:pt x="0" y="0"/>
                </a:moveTo>
                <a:lnTo>
                  <a:pt x="2749334" y="0"/>
                </a:lnTo>
                <a:lnTo>
                  <a:pt x="2749334" y="762438"/>
                </a:lnTo>
                <a:lnTo>
                  <a:pt x="0" y="762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5336" y="3450003"/>
            <a:ext cx="2749334" cy="762438"/>
          </a:xfrm>
          <a:custGeom>
            <a:avLst/>
            <a:gdLst/>
            <a:ahLst/>
            <a:cxnLst/>
            <a:rect r="r" b="b" t="t" l="l"/>
            <a:pathLst>
              <a:path h="762438" w="2749334">
                <a:moveTo>
                  <a:pt x="0" y="0"/>
                </a:moveTo>
                <a:lnTo>
                  <a:pt x="2749334" y="0"/>
                </a:lnTo>
                <a:lnTo>
                  <a:pt x="2749334" y="762438"/>
                </a:lnTo>
                <a:lnTo>
                  <a:pt x="0" y="762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05334" y="3450003"/>
            <a:ext cx="2749334" cy="762438"/>
          </a:xfrm>
          <a:custGeom>
            <a:avLst/>
            <a:gdLst/>
            <a:ahLst/>
            <a:cxnLst/>
            <a:rect r="r" b="b" t="t" l="l"/>
            <a:pathLst>
              <a:path h="762438" w="2749334">
                <a:moveTo>
                  <a:pt x="0" y="0"/>
                </a:moveTo>
                <a:lnTo>
                  <a:pt x="2749334" y="0"/>
                </a:lnTo>
                <a:lnTo>
                  <a:pt x="2749334" y="762438"/>
                </a:lnTo>
                <a:lnTo>
                  <a:pt x="0" y="762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61582" y="3572312"/>
            <a:ext cx="2034245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2400" spc="-112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Ordem de chegada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14619" y="3572312"/>
            <a:ext cx="2034245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2400" spc="-112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Degradação estrutural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64617" y="3604192"/>
            <a:ext cx="2034245" cy="47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7"/>
              </a:lnSpc>
            </a:pPr>
            <a:r>
              <a:rPr lang="en-US" sz="2199" spc="-102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Colapso de performance</a:t>
            </a:r>
          </a:p>
        </p:txBody>
      </p:sp>
      <p:sp>
        <p:nvSpPr>
          <p:cNvPr name="AutoShape 8" id="8"/>
          <p:cNvSpPr/>
          <p:nvPr/>
        </p:nvSpPr>
        <p:spPr>
          <a:xfrm>
            <a:off x="5124943" y="3831003"/>
            <a:ext cx="2468394" cy="0"/>
          </a:xfrm>
          <a:prstGeom prst="line">
            <a:avLst/>
          </a:prstGeom>
          <a:ln cap="rnd" w="28575">
            <a:solidFill>
              <a:srgbClr val="101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671429" y="3831003"/>
            <a:ext cx="2468394" cy="0"/>
          </a:xfrm>
          <a:prstGeom prst="line">
            <a:avLst/>
          </a:prstGeom>
          <a:ln cap="rnd" w="28575">
            <a:solidFill>
              <a:srgbClr val="101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652372"/>
            <a:ext cx="5099999" cy="20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IDs de encomendas chegam em blocos já ordenados, crescentes ou decrescentes.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0003" y="4652372"/>
            <a:ext cx="5099999" cy="20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Numa árvore sem balanceamento, os nós crescem para um só lado e ela vira uma lista encadeada.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30002" y="4652372"/>
            <a:ext cx="5099999" cy="20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Busca e inserção caem de O(log n) para O(n): o sistema trava sob alta carga.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7049995"/>
            <a:ext cx="16219999" cy="2700004"/>
            <a:chOff x="0" y="0"/>
            <a:chExt cx="21626665" cy="3600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26576" cy="3599942"/>
            </a:xfrm>
            <a:custGeom>
              <a:avLst/>
              <a:gdLst/>
              <a:ahLst/>
              <a:cxnLst/>
              <a:rect r="r" b="b" t="t" l="l"/>
              <a:pathLst>
                <a:path h="3599942" w="21626576">
                  <a:moveTo>
                    <a:pt x="0" y="506603"/>
                  </a:moveTo>
                  <a:cubicBezTo>
                    <a:pt x="0" y="226822"/>
                    <a:pt x="226822" y="0"/>
                    <a:pt x="506603" y="0"/>
                  </a:cubicBezTo>
                  <a:lnTo>
                    <a:pt x="21119973" y="0"/>
                  </a:lnTo>
                  <a:cubicBezTo>
                    <a:pt x="21399754" y="0"/>
                    <a:pt x="21626576" y="226822"/>
                    <a:pt x="21626576" y="506603"/>
                  </a:cubicBezTo>
                  <a:lnTo>
                    <a:pt x="21626576" y="3093339"/>
                  </a:lnTo>
                  <a:cubicBezTo>
                    <a:pt x="21626576" y="3373120"/>
                    <a:pt x="21399754" y="3599942"/>
                    <a:pt x="21119973" y="3599942"/>
                  </a:cubicBezTo>
                  <a:lnTo>
                    <a:pt x="506603" y="3599942"/>
                  </a:lnTo>
                  <a:cubicBezTo>
                    <a:pt x="226822" y="3599942"/>
                    <a:pt x="0" y="3373120"/>
                    <a:pt x="0" y="3093339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99997" y="7202376"/>
            <a:ext cx="15299998" cy="5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Inserindo 10.000 IDs em ordem crescente, a altura da árvore chega a: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9997" y="7800003"/>
            <a:ext cx="4900003" cy="10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 spc="-179">
                <a:solidFill>
                  <a:srgbClr val="FF9900"/>
                </a:solidFill>
                <a:latin typeface="Inter Bold"/>
                <a:ea typeface="Inter Bold"/>
                <a:cs typeface="Inter Bold"/>
                <a:sym typeface="Inter Bold"/>
              </a:rPr>
              <a:t>10.000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9997" y="8852373"/>
            <a:ext cx="4900003" cy="4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00" spc="-6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níveis: árvore sem balanceamento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99996" y="7800003"/>
            <a:ext cx="4900003" cy="10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 spc="-179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14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99996" y="8852373"/>
            <a:ext cx="4900003" cy="4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00" spc="-6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níveis: AVL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00004" y="7800003"/>
            <a:ext cx="4900003" cy="10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 spc="-179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00004" y="8852373"/>
            <a:ext cx="4900003" cy="4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00" spc="-6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níveis: Rubro-Negra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0293" y="6941591"/>
            <a:ext cx="4182751" cy="2851976"/>
            <a:chOff x="0" y="0"/>
            <a:chExt cx="5577002" cy="3802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76951" cy="3802634"/>
            </a:xfrm>
            <a:custGeom>
              <a:avLst/>
              <a:gdLst/>
              <a:ahLst/>
              <a:cxnLst/>
              <a:rect r="r" b="b" t="t" l="l"/>
              <a:pathLst>
                <a:path h="3802634" w="5576951">
                  <a:moveTo>
                    <a:pt x="456438" y="0"/>
                  </a:moveTo>
                  <a:lnTo>
                    <a:pt x="5120513" y="0"/>
                  </a:lnTo>
                  <a:cubicBezTo>
                    <a:pt x="5372608" y="0"/>
                    <a:pt x="5576951" y="207137"/>
                    <a:pt x="5576951" y="462661"/>
                  </a:cubicBezTo>
                  <a:lnTo>
                    <a:pt x="5576951" y="3339973"/>
                  </a:lnTo>
                  <a:cubicBezTo>
                    <a:pt x="5576951" y="3462655"/>
                    <a:pt x="5528818" y="3580384"/>
                    <a:pt x="5443220" y="3667125"/>
                  </a:cubicBezTo>
                  <a:cubicBezTo>
                    <a:pt x="5357622" y="3753866"/>
                    <a:pt x="5241544" y="3802634"/>
                    <a:pt x="5120513" y="3802634"/>
                  </a:cubicBezTo>
                  <a:lnTo>
                    <a:pt x="456438" y="3802634"/>
                  </a:lnTo>
                  <a:cubicBezTo>
                    <a:pt x="204343" y="3802634"/>
                    <a:pt x="0" y="3595497"/>
                    <a:pt x="0" y="3339973"/>
                  </a:cubicBezTo>
                  <a:lnTo>
                    <a:pt x="0" y="462661"/>
                  </a:lnTo>
                  <a:cubicBezTo>
                    <a:pt x="0" y="207137"/>
                    <a:pt x="204343" y="0"/>
                    <a:pt x="456438" y="0"/>
                  </a:cubicBezTo>
                  <a:close/>
                </a:path>
              </a:pathLst>
            </a:custGeom>
            <a:blipFill>
              <a:blip r:embed="rId3"/>
              <a:stretch>
                <a:fillRect l="-1317" t="0" r="-1318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80003" y="6999999"/>
            <a:ext cx="4065937" cy="2735161"/>
            <a:chOff x="0" y="0"/>
            <a:chExt cx="5421249" cy="36468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21376" cy="3646805"/>
            </a:xfrm>
            <a:custGeom>
              <a:avLst/>
              <a:gdLst/>
              <a:ahLst/>
              <a:cxnLst/>
              <a:rect r="r" b="b" t="t" l="l"/>
              <a:pathLst>
                <a:path h="3646805" w="5421376">
                  <a:moveTo>
                    <a:pt x="443738" y="0"/>
                  </a:moveTo>
                  <a:lnTo>
                    <a:pt x="4977638" y="0"/>
                  </a:lnTo>
                  <a:cubicBezTo>
                    <a:pt x="5222621" y="0"/>
                    <a:pt x="5421376" y="198628"/>
                    <a:pt x="5421376" y="443738"/>
                  </a:cubicBezTo>
                  <a:lnTo>
                    <a:pt x="5421376" y="3203194"/>
                  </a:lnTo>
                  <a:cubicBezTo>
                    <a:pt x="5421376" y="3320923"/>
                    <a:pt x="5374640" y="3433699"/>
                    <a:pt x="5291455" y="3516884"/>
                  </a:cubicBezTo>
                  <a:cubicBezTo>
                    <a:pt x="5208270" y="3600069"/>
                    <a:pt x="5095367" y="3646805"/>
                    <a:pt x="4977765" y="3646805"/>
                  </a:cubicBezTo>
                  <a:lnTo>
                    <a:pt x="443865" y="3646805"/>
                  </a:lnTo>
                  <a:cubicBezTo>
                    <a:pt x="198628" y="3646932"/>
                    <a:pt x="0" y="3448177"/>
                    <a:pt x="0" y="3203194"/>
                  </a:cubicBezTo>
                  <a:lnTo>
                    <a:pt x="0" y="443738"/>
                  </a:lnTo>
                  <a:cubicBezTo>
                    <a:pt x="0" y="198628"/>
                    <a:pt x="198628" y="0"/>
                    <a:pt x="443738" y="0"/>
                  </a:cubicBezTo>
                  <a:close/>
                </a:path>
              </a:pathLst>
            </a:custGeom>
            <a:blipFill>
              <a:blip r:embed="rId4"/>
              <a:stretch>
                <a:fillRect l="-433" t="0" r="-431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30002" y="6999999"/>
            <a:ext cx="4065937" cy="2735161"/>
            <a:chOff x="0" y="0"/>
            <a:chExt cx="5421249" cy="36468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21376" cy="3646805"/>
            </a:xfrm>
            <a:custGeom>
              <a:avLst/>
              <a:gdLst/>
              <a:ahLst/>
              <a:cxnLst/>
              <a:rect r="r" b="b" t="t" l="l"/>
              <a:pathLst>
                <a:path h="3646805" w="5421376">
                  <a:moveTo>
                    <a:pt x="443738" y="0"/>
                  </a:moveTo>
                  <a:lnTo>
                    <a:pt x="4977638" y="0"/>
                  </a:lnTo>
                  <a:cubicBezTo>
                    <a:pt x="5222621" y="0"/>
                    <a:pt x="5421376" y="198628"/>
                    <a:pt x="5421376" y="443738"/>
                  </a:cubicBezTo>
                  <a:lnTo>
                    <a:pt x="5421376" y="3203194"/>
                  </a:lnTo>
                  <a:cubicBezTo>
                    <a:pt x="5421376" y="3320923"/>
                    <a:pt x="5374640" y="3433699"/>
                    <a:pt x="5291455" y="3516884"/>
                  </a:cubicBezTo>
                  <a:cubicBezTo>
                    <a:pt x="5208270" y="3600069"/>
                    <a:pt x="5095367" y="3646805"/>
                    <a:pt x="4977765" y="3646805"/>
                  </a:cubicBezTo>
                  <a:lnTo>
                    <a:pt x="443865" y="3646805"/>
                  </a:lnTo>
                  <a:cubicBezTo>
                    <a:pt x="198628" y="3646932"/>
                    <a:pt x="0" y="3448177"/>
                    <a:pt x="0" y="3203194"/>
                  </a:cubicBezTo>
                  <a:lnTo>
                    <a:pt x="0" y="443738"/>
                  </a:lnTo>
                  <a:cubicBezTo>
                    <a:pt x="0" y="198628"/>
                    <a:pt x="198628" y="0"/>
                    <a:pt x="443738" y="0"/>
                  </a:cubicBezTo>
                  <a:close/>
                </a:path>
              </a:pathLst>
            </a:custGeom>
            <a:blipFill>
              <a:blip r:embed="rId5"/>
              <a:stretch>
                <a:fillRect l="-783" t="0" r="-780" b="-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450003"/>
            <a:ext cx="748951" cy="748951"/>
          </a:xfrm>
          <a:custGeom>
            <a:avLst/>
            <a:gdLst/>
            <a:ahLst/>
            <a:cxnLst/>
            <a:rect r="r" b="b" t="t" l="l"/>
            <a:pathLst>
              <a:path h="748951" w="748951">
                <a:moveTo>
                  <a:pt x="0" y="0"/>
                </a:moveTo>
                <a:lnTo>
                  <a:pt x="748951" y="0"/>
                </a:lnTo>
                <a:lnTo>
                  <a:pt x="748951" y="748950"/>
                </a:lnTo>
                <a:lnTo>
                  <a:pt x="0" y="748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80003" y="3450003"/>
            <a:ext cx="748951" cy="748951"/>
          </a:xfrm>
          <a:custGeom>
            <a:avLst/>
            <a:gdLst/>
            <a:ahLst/>
            <a:cxnLst/>
            <a:rect r="r" b="b" t="t" l="l"/>
            <a:pathLst>
              <a:path h="748951" w="748951">
                <a:moveTo>
                  <a:pt x="0" y="0"/>
                </a:moveTo>
                <a:lnTo>
                  <a:pt x="748951" y="0"/>
                </a:lnTo>
                <a:lnTo>
                  <a:pt x="748951" y="748950"/>
                </a:lnTo>
                <a:lnTo>
                  <a:pt x="0" y="748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30002" y="3450003"/>
            <a:ext cx="748951" cy="748951"/>
          </a:xfrm>
          <a:custGeom>
            <a:avLst/>
            <a:gdLst/>
            <a:ahLst/>
            <a:cxnLst/>
            <a:rect r="r" b="b" t="t" l="l"/>
            <a:pathLst>
              <a:path h="748951" w="748951">
                <a:moveTo>
                  <a:pt x="0" y="0"/>
                </a:moveTo>
                <a:lnTo>
                  <a:pt x="748951" y="0"/>
                </a:lnTo>
                <a:lnTo>
                  <a:pt x="748951" y="748950"/>
                </a:lnTo>
                <a:lnTo>
                  <a:pt x="0" y="748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Solução desenvolvida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8701" y="3309528"/>
            <a:ext cx="2499998" cy="79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spc="-13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342848"/>
            <a:ext cx="5099999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Motor 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102371"/>
            <a:ext cx="5099999" cy="18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Núcleo em C++17 puro, sem bibliotecas externas, com controle total de memória.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80005" y="3309528"/>
            <a:ext cx="2499998" cy="79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spc="-13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0003" y="4342848"/>
            <a:ext cx="5099999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Simulador interativo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80003" y="5102371"/>
            <a:ext cx="5099999" cy="18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Menu no terminal para inserir, remover, buscar e visualizar a árvore em tempo real.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0003" y="3309528"/>
            <a:ext cx="2499998" cy="79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spc="-13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30002" y="4342848"/>
            <a:ext cx="5099999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Automação de métricas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0002" y="5102371"/>
            <a:ext cx="5099999" cy="18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Testes de corretude e benchmark com tempo, altura e rotações, exportado em CSV.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9175" y="6335354"/>
            <a:ext cx="2387603" cy="3275809"/>
            <a:chOff x="0" y="0"/>
            <a:chExt cx="3183471" cy="4367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3509" cy="4367784"/>
            </a:xfrm>
            <a:custGeom>
              <a:avLst/>
              <a:gdLst/>
              <a:ahLst/>
              <a:cxnLst/>
              <a:rect r="r" b="b" t="t" l="l"/>
              <a:pathLst>
                <a:path h="4367784" w="3183509">
                  <a:moveTo>
                    <a:pt x="0" y="0"/>
                  </a:moveTo>
                  <a:lnTo>
                    <a:pt x="3183509" y="0"/>
                  </a:lnTo>
                  <a:lnTo>
                    <a:pt x="3183509" y="4367784"/>
                  </a:lnTo>
                  <a:lnTo>
                    <a:pt x="0" y="4367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9" r="1" b="-108"/>
              </a:stretch>
            </a:blipFill>
            <a:ln w="19050" cap="sq">
              <a:solidFill>
                <a:srgbClr val="10101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379474" y="6486935"/>
            <a:ext cx="3957161" cy="2972638"/>
            <a:chOff x="0" y="0"/>
            <a:chExt cx="5276215" cy="3963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76215" cy="3963543"/>
            </a:xfrm>
            <a:custGeom>
              <a:avLst/>
              <a:gdLst/>
              <a:ahLst/>
              <a:cxnLst/>
              <a:rect r="r" b="b" t="t" l="l"/>
              <a:pathLst>
                <a:path h="3963543" w="5276215">
                  <a:moveTo>
                    <a:pt x="0" y="0"/>
                  </a:moveTo>
                  <a:lnTo>
                    <a:pt x="5276215" y="0"/>
                  </a:lnTo>
                  <a:lnTo>
                    <a:pt x="5276215" y="3963543"/>
                  </a:lnTo>
                  <a:lnTo>
                    <a:pt x="0" y="3963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" t="0" r="-80" b="0"/>
              </a:stretch>
            </a:blipFill>
            <a:ln w="19050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886114" y="7046862"/>
            <a:ext cx="2014023" cy="730758"/>
          </a:xfrm>
          <a:custGeom>
            <a:avLst/>
            <a:gdLst/>
            <a:ahLst/>
            <a:cxnLst/>
            <a:rect r="r" b="b" t="t" l="l"/>
            <a:pathLst>
              <a:path h="730758" w="2014023">
                <a:moveTo>
                  <a:pt x="0" y="0"/>
                </a:moveTo>
                <a:lnTo>
                  <a:pt x="2014023" y="0"/>
                </a:lnTo>
                <a:lnTo>
                  <a:pt x="2014023" y="730758"/>
                </a:lnTo>
                <a:lnTo>
                  <a:pt x="0" y="7307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62273" y="7815720"/>
            <a:ext cx="1461697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Rotação simples à esquerda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Árvore AVL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399996"/>
            <a:ext cx="5099999" cy="2499998"/>
            <a:chOff x="0" y="0"/>
            <a:chExt cx="6799999" cy="3333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0088" cy="3333369"/>
            </a:xfrm>
            <a:custGeom>
              <a:avLst/>
              <a:gdLst/>
              <a:ahLst/>
              <a:cxnLst/>
              <a:rect r="r" b="b" t="t" l="l"/>
              <a:pathLst>
                <a:path h="3333369" w="6800088">
                  <a:moveTo>
                    <a:pt x="0" y="506730"/>
                  </a:moveTo>
                  <a:cubicBezTo>
                    <a:pt x="0" y="226822"/>
                    <a:pt x="226822" y="0"/>
                    <a:pt x="506730" y="0"/>
                  </a:cubicBezTo>
                  <a:lnTo>
                    <a:pt x="6293358" y="0"/>
                  </a:lnTo>
                  <a:cubicBezTo>
                    <a:pt x="6573139" y="0"/>
                    <a:pt x="6800088" y="226822"/>
                    <a:pt x="6800088" y="506730"/>
                  </a:cubicBezTo>
                  <a:lnTo>
                    <a:pt x="6800088" y="2826639"/>
                  </a:lnTo>
                  <a:cubicBezTo>
                    <a:pt x="6800088" y="3106420"/>
                    <a:pt x="6573266" y="3333369"/>
                    <a:pt x="6293358" y="3333369"/>
                  </a:cubicBezTo>
                  <a:lnTo>
                    <a:pt x="506730" y="3333369"/>
                  </a:lnTo>
                  <a:cubicBezTo>
                    <a:pt x="226949" y="3333369"/>
                    <a:pt x="0" y="3106547"/>
                    <a:pt x="0" y="2826639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48695" y="3642846"/>
            <a:ext cx="4300004" cy="65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Cenário ideal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8695" y="4402379"/>
            <a:ext cx="4300004" cy="12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Catálogos estáticos: muita busca, pouca inserção.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85715" y="3385709"/>
            <a:ext cx="10778576" cy="2528573"/>
            <a:chOff x="0" y="0"/>
            <a:chExt cx="14371434" cy="33714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71447" cy="3371469"/>
            </a:xfrm>
            <a:custGeom>
              <a:avLst/>
              <a:gdLst/>
              <a:ahLst/>
              <a:cxnLst/>
              <a:rect r="r" b="b" t="t" l="l"/>
              <a:pathLst>
                <a:path h="3371469" w="14371447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lnTo>
                    <a:pt x="13859002" y="0"/>
                  </a:lnTo>
                  <a:cubicBezTo>
                    <a:pt x="14142086" y="0"/>
                    <a:pt x="14371447" y="229489"/>
                    <a:pt x="14371447" y="512445"/>
                  </a:cubicBezTo>
                  <a:lnTo>
                    <a:pt x="14371447" y="2859024"/>
                  </a:lnTo>
                  <a:cubicBezTo>
                    <a:pt x="14371447" y="3142107"/>
                    <a:pt x="14141958" y="3371469"/>
                    <a:pt x="13859002" y="3371469"/>
                  </a:cubicBezTo>
                  <a:lnTo>
                    <a:pt x="512445" y="3371469"/>
                  </a:lnTo>
                  <a:cubicBezTo>
                    <a:pt x="229489" y="3371469"/>
                    <a:pt x="0" y="3141980"/>
                    <a:pt x="0" y="2859024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058" r="0" b="-33057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919998" y="3642846"/>
            <a:ext cx="9899999" cy="65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Balanceamento por altura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19998" y="4402379"/>
            <a:ext cx="9899999" cy="134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Diferença de altura entre subárvores sempre ≤ 1. Caminho de busca o mais curto possível, em troca de mais rotações.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742628" y="6485715"/>
            <a:ext cx="6521653" cy="2978572"/>
            <a:chOff x="0" y="0"/>
            <a:chExt cx="8695538" cy="39714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95563" cy="3971417"/>
            </a:xfrm>
            <a:custGeom>
              <a:avLst/>
              <a:gdLst/>
              <a:ahLst/>
              <a:cxnLst/>
              <a:rect r="r" b="b" t="t" l="l"/>
              <a:pathLst>
                <a:path h="3971417" w="8695563">
                  <a:moveTo>
                    <a:pt x="0" y="511556"/>
                  </a:moveTo>
                  <a:cubicBezTo>
                    <a:pt x="0" y="228981"/>
                    <a:pt x="228981" y="0"/>
                    <a:pt x="511556" y="0"/>
                  </a:cubicBezTo>
                  <a:lnTo>
                    <a:pt x="8184007" y="0"/>
                  </a:lnTo>
                  <a:cubicBezTo>
                    <a:pt x="8466582" y="0"/>
                    <a:pt x="8695563" y="228981"/>
                    <a:pt x="8695563" y="511556"/>
                  </a:cubicBezTo>
                  <a:lnTo>
                    <a:pt x="8695563" y="3459861"/>
                  </a:lnTo>
                  <a:cubicBezTo>
                    <a:pt x="8695563" y="3742436"/>
                    <a:pt x="8466582" y="3971417"/>
                    <a:pt x="8184007" y="3971417"/>
                  </a:cubicBezTo>
                  <a:lnTo>
                    <a:pt x="511556" y="3971417"/>
                  </a:lnTo>
                  <a:cubicBezTo>
                    <a:pt x="228981" y="3971417"/>
                    <a:pt x="0" y="3742436"/>
                    <a:pt x="0" y="3459861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598" t="0" r="-8598" b="0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150003" y="6742852"/>
            <a:ext cx="5699998" cy="65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Reestruturação física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50003" y="7452379"/>
            <a:ext cx="5699998" cy="169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00" spc="-60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Lote sequencial desbalanceia a árvore; a rotação reconecta os nós. 100 mil inserções aleatórias significam 69,8 mil rotações.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0800" y="6418316"/>
            <a:ext cx="7302284" cy="3286030"/>
            <a:chOff x="0" y="0"/>
            <a:chExt cx="9736379" cy="4381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36328" cy="4381373"/>
            </a:xfrm>
            <a:custGeom>
              <a:avLst/>
              <a:gdLst/>
              <a:ahLst/>
              <a:cxnLst/>
              <a:rect r="r" b="b" t="t" l="l"/>
              <a:pathLst>
                <a:path h="4381373" w="9736328">
                  <a:moveTo>
                    <a:pt x="0" y="0"/>
                  </a:moveTo>
                  <a:lnTo>
                    <a:pt x="9736328" y="0"/>
                  </a:lnTo>
                  <a:lnTo>
                    <a:pt x="9736328" y="4381373"/>
                  </a:lnTo>
                  <a:lnTo>
                    <a:pt x="0" y="438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19050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5204586" y="7454589"/>
            <a:ext cx="1949834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Caso de rotação e mudança de cores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Árvore Rubro-Negra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4412" y="3385709"/>
            <a:ext cx="10778576" cy="2628576"/>
            <a:chOff x="0" y="0"/>
            <a:chExt cx="14371434" cy="3504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71447" cy="3504692"/>
            </a:xfrm>
            <a:custGeom>
              <a:avLst/>
              <a:gdLst/>
              <a:ahLst/>
              <a:cxnLst/>
              <a:rect r="r" b="b" t="t" l="l"/>
              <a:pathLst>
                <a:path h="3504692" w="14371447">
                  <a:moveTo>
                    <a:pt x="0" y="512191"/>
                  </a:moveTo>
                  <a:cubicBezTo>
                    <a:pt x="0" y="229362"/>
                    <a:pt x="229362" y="0"/>
                    <a:pt x="512191" y="0"/>
                  </a:cubicBezTo>
                  <a:lnTo>
                    <a:pt x="13859256" y="0"/>
                  </a:lnTo>
                  <a:cubicBezTo>
                    <a:pt x="14142086" y="0"/>
                    <a:pt x="14371447" y="229362"/>
                    <a:pt x="14371447" y="512191"/>
                  </a:cubicBezTo>
                  <a:lnTo>
                    <a:pt x="14371447" y="2992501"/>
                  </a:lnTo>
                  <a:cubicBezTo>
                    <a:pt x="14371447" y="3275330"/>
                    <a:pt x="14142086" y="3504692"/>
                    <a:pt x="13859256" y="3504692"/>
                  </a:cubicBezTo>
                  <a:lnTo>
                    <a:pt x="512191" y="3504692"/>
                  </a:lnTo>
                  <a:cubicBezTo>
                    <a:pt x="229362" y="3504819"/>
                    <a:pt x="0" y="3275457"/>
                    <a:pt x="0" y="299250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99" r="0" b="-29901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48695" y="3642846"/>
            <a:ext cx="9899999" cy="65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Balanceamento por cores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8695" y="4402379"/>
            <a:ext cx="9899999" cy="144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Nós vermelhos e pretos com regras simples. O caminho mais longo pode ter até 2× o mais curto: folga para absorver picos sem reorganizar.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115714" y="3385709"/>
            <a:ext cx="5148577" cy="2628576"/>
            <a:chOff x="0" y="0"/>
            <a:chExt cx="6864769" cy="35047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4731" cy="3504692"/>
            </a:xfrm>
            <a:custGeom>
              <a:avLst/>
              <a:gdLst/>
              <a:ahLst/>
              <a:cxnLst/>
              <a:rect r="r" b="b" t="t" l="l"/>
              <a:pathLst>
                <a:path h="3504692" w="6864731">
                  <a:moveTo>
                    <a:pt x="0" y="512191"/>
                  </a:moveTo>
                  <a:cubicBezTo>
                    <a:pt x="0" y="229362"/>
                    <a:pt x="229362" y="0"/>
                    <a:pt x="512191" y="0"/>
                  </a:cubicBezTo>
                  <a:lnTo>
                    <a:pt x="6352540" y="0"/>
                  </a:lnTo>
                  <a:cubicBezTo>
                    <a:pt x="6635369" y="0"/>
                    <a:pt x="6864731" y="229362"/>
                    <a:pt x="6864731" y="512191"/>
                  </a:cubicBezTo>
                  <a:lnTo>
                    <a:pt x="6864731" y="2992501"/>
                  </a:lnTo>
                  <a:cubicBezTo>
                    <a:pt x="6864731" y="3275330"/>
                    <a:pt x="6635369" y="3504692"/>
                    <a:pt x="6352540" y="3504692"/>
                  </a:cubicBezTo>
                  <a:lnTo>
                    <a:pt x="512191" y="3504692"/>
                  </a:lnTo>
                  <a:cubicBezTo>
                    <a:pt x="229362" y="3504819"/>
                    <a:pt x="0" y="3275457"/>
                    <a:pt x="0" y="299250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04" t="0" r="-15505" b="-2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49997" y="3642846"/>
            <a:ext cx="4300004" cy="65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Cenário ideal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49997" y="4402379"/>
            <a:ext cx="4300004" cy="144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Entrada e saída constantes de pacotes: alta volatilidade.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6449997"/>
            <a:ext cx="6100000" cy="3099997"/>
            <a:chOff x="0" y="0"/>
            <a:chExt cx="8133334" cy="41333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33335" cy="4133215"/>
            </a:xfrm>
            <a:custGeom>
              <a:avLst/>
              <a:gdLst/>
              <a:ahLst/>
              <a:cxnLst/>
              <a:rect r="r" b="b" t="t" l="l"/>
              <a:pathLst>
                <a:path h="4133215" w="8133335">
                  <a:moveTo>
                    <a:pt x="0" y="506603"/>
                  </a:moveTo>
                  <a:cubicBezTo>
                    <a:pt x="0" y="226822"/>
                    <a:pt x="226822" y="0"/>
                    <a:pt x="506603" y="0"/>
                  </a:cubicBezTo>
                  <a:lnTo>
                    <a:pt x="7626731" y="0"/>
                  </a:lnTo>
                  <a:cubicBezTo>
                    <a:pt x="7906513" y="0"/>
                    <a:pt x="8133335" y="226822"/>
                    <a:pt x="8133335" y="506603"/>
                  </a:cubicBezTo>
                  <a:lnTo>
                    <a:pt x="8133335" y="3626612"/>
                  </a:lnTo>
                  <a:cubicBezTo>
                    <a:pt x="8133335" y="3906393"/>
                    <a:pt x="7906513" y="4133215"/>
                    <a:pt x="7626731" y="4133215"/>
                  </a:cubicBezTo>
                  <a:lnTo>
                    <a:pt x="506603" y="4133215"/>
                  </a:lnTo>
                  <a:cubicBezTo>
                    <a:pt x="226822" y="4133342"/>
                    <a:pt x="0" y="3906520"/>
                    <a:pt x="0" y="3626612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48695" y="6692846"/>
            <a:ext cx="5299996" cy="65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000" spc="-7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Repintura vs. rotação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8695" y="7402373"/>
            <a:ext cx="5299996" cy="194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Quase todo ajuste é só trocar cores: custa quase nada. Rotação só em último caso.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99996"/>
            <a:ext cx="2749334" cy="762438"/>
          </a:xfrm>
          <a:custGeom>
            <a:avLst/>
            <a:gdLst/>
            <a:ahLst/>
            <a:cxnLst/>
            <a:rect r="r" b="b" t="t" l="l"/>
            <a:pathLst>
              <a:path h="762438" w="2749334">
                <a:moveTo>
                  <a:pt x="0" y="0"/>
                </a:moveTo>
                <a:lnTo>
                  <a:pt x="2749334" y="0"/>
                </a:lnTo>
                <a:lnTo>
                  <a:pt x="2749334" y="762439"/>
                </a:lnTo>
                <a:lnTo>
                  <a:pt x="0" y="762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50004" y="3399996"/>
            <a:ext cx="2749334" cy="762438"/>
          </a:xfrm>
          <a:custGeom>
            <a:avLst/>
            <a:gdLst/>
            <a:ahLst/>
            <a:cxnLst/>
            <a:rect r="r" b="b" t="t" l="l"/>
            <a:pathLst>
              <a:path h="762438" w="2749334">
                <a:moveTo>
                  <a:pt x="0" y="0"/>
                </a:moveTo>
                <a:lnTo>
                  <a:pt x="2749334" y="0"/>
                </a:lnTo>
                <a:lnTo>
                  <a:pt x="2749334" y="762439"/>
                </a:lnTo>
                <a:lnTo>
                  <a:pt x="0" y="762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749996"/>
            <a:ext cx="2749334" cy="762438"/>
          </a:xfrm>
          <a:custGeom>
            <a:avLst/>
            <a:gdLst/>
            <a:ahLst/>
            <a:cxnLst/>
            <a:rect r="r" b="b" t="t" l="l"/>
            <a:pathLst>
              <a:path h="762438" w="2749334">
                <a:moveTo>
                  <a:pt x="0" y="0"/>
                </a:moveTo>
                <a:lnTo>
                  <a:pt x="2749334" y="0"/>
                </a:lnTo>
                <a:lnTo>
                  <a:pt x="2749334" y="762438"/>
                </a:lnTo>
                <a:lnTo>
                  <a:pt x="0" y="762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50004" y="6749996"/>
            <a:ext cx="2749334" cy="762438"/>
          </a:xfrm>
          <a:custGeom>
            <a:avLst/>
            <a:gdLst/>
            <a:ahLst/>
            <a:cxnLst/>
            <a:rect r="r" b="b" t="t" l="l"/>
            <a:pathLst>
              <a:path h="762438" w="2749334">
                <a:moveTo>
                  <a:pt x="0" y="0"/>
                </a:moveTo>
                <a:lnTo>
                  <a:pt x="2749334" y="0"/>
                </a:lnTo>
                <a:lnTo>
                  <a:pt x="2749334" y="762438"/>
                </a:lnTo>
                <a:lnTo>
                  <a:pt x="0" y="762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6248" y="3686099"/>
            <a:ext cx="1594247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Inserção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29286" y="3686099"/>
            <a:ext cx="1594247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Remoção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7982" y="7042314"/>
            <a:ext cx="1594247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Busca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87030" y="7042314"/>
            <a:ext cx="187875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 spc="-116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Visualização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Demonstração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978040" y="3404216"/>
            <a:ext cx="5050660" cy="762438"/>
            <a:chOff x="0" y="0"/>
            <a:chExt cx="6734213" cy="10165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4218" cy="1016579"/>
            </a:xfrm>
            <a:custGeom>
              <a:avLst/>
              <a:gdLst/>
              <a:ahLst/>
              <a:cxnLst/>
              <a:rect r="r" b="b" t="t" l="l"/>
              <a:pathLst>
                <a:path h="1016579" w="6734218">
                  <a:moveTo>
                    <a:pt x="0" y="0"/>
                  </a:moveTo>
                  <a:lnTo>
                    <a:pt x="6734218" y="0"/>
                  </a:lnTo>
                  <a:lnTo>
                    <a:pt x="6734218" y="1016579"/>
                  </a:lnTo>
                  <a:lnTo>
                    <a:pt x="0" y="10165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076" r="0" b="-790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734213" cy="1064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5"/>
                </a:lnSpc>
              </a:pPr>
              <a:r>
                <a:rPr lang="en-US" sz="2199" spc="-54">
                  <a:solidFill>
                    <a:srgbClr val="5A5A5A"/>
                  </a:solidFill>
                  <a:latin typeface="Inter"/>
                  <a:ea typeface="Inter"/>
                  <a:cs typeface="Inter"/>
                  <a:sym typeface="Inter"/>
                </a:rPr>
                <a:t>Bloqueia IDs duplicados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4300004"/>
            <a:ext cx="8000000" cy="2199999"/>
            <a:chOff x="0" y="0"/>
            <a:chExt cx="10666666" cy="2933332"/>
          </a:xfrm>
        </p:grpSpPr>
        <p:sp>
          <p:nvSpPr>
            <p:cNvPr name="Freeform 15" id="15" descr="term_insert.png"/>
            <p:cNvSpPr/>
            <p:nvPr/>
          </p:nvSpPr>
          <p:spPr>
            <a:xfrm flipH="false" flipV="false" rot="0">
              <a:off x="0" y="0"/>
              <a:ext cx="10666730" cy="2933319"/>
            </a:xfrm>
            <a:custGeom>
              <a:avLst/>
              <a:gdLst/>
              <a:ahLst/>
              <a:cxnLst/>
              <a:rect r="r" b="b" t="t" l="l"/>
              <a:pathLst>
                <a:path h="2933319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2933319"/>
                  </a:lnTo>
                  <a:lnTo>
                    <a:pt x="0" y="293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99334" y="3399996"/>
            <a:ext cx="5050660" cy="762438"/>
            <a:chOff x="0" y="0"/>
            <a:chExt cx="6734213" cy="1016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34218" cy="1016579"/>
            </a:xfrm>
            <a:custGeom>
              <a:avLst/>
              <a:gdLst/>
              <a:ahLst/>
              <a:cxnLst/>
              <a:rect r="r" b="b" t="t" l="l"/>
              <a:pathLst>
                <a:path h="1016579" w="6734218">
                  <a:moveTo>
                    <a:pt x="0" y="0"/>
                  </a:moveTo>
                  <a:lnTo>
                    <a:pt x="6734218" y="0"/>
                  </a:lnTo>
                  <a:lnTo>
                    <a:pt x="6734218" y="1016579"/>
                  </a:lnTo>
                  <a:lnTo>
                    <a:pt x="0" y="10165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076" r="0" b="-790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734213" cy="1064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5"/>
                </a:lnSpc>
              </a:pPr>
              <a:r>
                <a:rPr lang="en-US" sz="2199" spc="-54">
                  <a:solidFill>
                    <a:srgbClr val="5A5A5A"/>
                  </a:solidFill>
                  <a:latin typeface="Inter"/>
                  <a:ea typeface="Inter"/>
                  <a:cs typeface="Inter"/>
                  <a:sym typeface="Inter"/>
                </a:rPr>
                <a:t>Reorganiza ponteiros, cores e alturas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50004" y="4300004"/>
            <a:ext cx="8000000" cy="2199999"/>
            <a:chOff x="0" y="0"/>
            <a:chExt cx="10666666" cy="2933332"/>
          </a:xfrm>
        </p:grpSpPr>
        <p:sp>
          <p:nvSpPr>
            <p:cNvPr name="Freeform 20" id="20" descr="term_remove.png"/>
            <p:cNvSpPr/>
            <p:nvPr/>
          </p:nvSpPr>
          <p:spPr>
            <a:xfrm flipH="false" flipV="false" rot="0">
              <a:off x="0" y="0"/>
              <a:ext cx="10666730" cy="2933319"/>
            </a:xfrm>
            <a:custGeom>
              <a:avLst/>
              <a:gdLst/>
              <a:ahLst/>
              <a:cxnLst/>
              <a:rect r="r" b="b" t="t" l="l"/>
              <a:pathLst>
                <a:path h="2933319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2933319"/>
                  </a:lnTo>
                  <a:lnTo>
                    <a:pt x="0" y="293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978040" y="6749996"/>
            <a:ext cx="5050660" cy="762438"/>
            <a:chOff x="0" y="0"/>
            <a:chExt cx="6734213" cy="10165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34218" cy="1016579"/>
            </a:xfrm>
            <a:custGeom>
              <a:avLst/>
              <a:gdLst/>
              <a:ahLst/>
              <a:cxnLst/>
              <a:rect r="r" b="b" t="t" l="l"/>
              <a:pathLst>
                <a:path h="1016579" w="6734218">
                  <a:moveTo>
                    <a:pt x="0" y="0"/>
                  </a:moveTo>
                  <a:lnTo>
                    <a:pt x="6734218" y="0"/>
                  </a:lnTo>
                  <a:lnTo>
                    <a:pt x="6734218" y="1016579"/>
                  </a:lnTo>
                  <a:lnTo>
                    <a:pt x="0" y="10165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076" r="0" b="-790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734213" cy="1064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5"/>
                </a:lnSpc>
              </a:pPr>
              <a:r>
                <a:rPr lang="en-US" sz="2199" spc="-54">
                  <a:solidFill>
                    <a:srgbClr val="5A5A5A"/>
                  </a:solidFill>
                  <a:latin typeface="Inter"/>
                  <a:ea typeface="Inter"/>
                  <a:cs typeface="Inter"/>
                  <a:sym typeface="Inter"/>
                </a:rPr>
                <a:t>Localiza o ID em O(log n)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7650004"/>
            <a:ext cx="8000000" cy="2199999"/>
            <a:chOff x="0" y="0"/>
            <a:chExt cx="10666666" cy="2933332"/>
          </a:xfrm>
        </p:grpSpPr>
        <p:sp>
          <p:nvSpPr>
            <p:cNvPr name="Freeform 25" id="25" descr="term_search.png"/>
            <p:cNvSpPr/>
            <p:nvPr/>
          </p:nvSpPr>
          <p:spPr>
            <a:xfrm flipH="false" flipV="false" rot="0">
              <a:off x="0" y="0"/>
              <a:ext cx="10666730" cy="2933319"/>
            </a:xfrm>
            <a:custGeom>
              <a:avLst/>
              <a:gdLst/>
              <a:ahLst/>
              <a:cxnLst/>
              <a:rect r="r" b="b" t="t" l="l"/>
              <a:pathLst>
                <a:path h="2933319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2933319"/>
                  </a:lnTo>
                  <a:lnTo>
                    <a:pt x="0" y="293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99334" y="6749996"/>
            <a:ext cx="5050660" cy="762438"/>
            <a:chOff x="0" y="0"/>
            <a:chExt cx="6734213" cy="10165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34218" cy="1016579"/>
            </a:xfrm>
            <a:custGeom>
              <a:avLst/>
              <a:gdLst/>
              <a:ahLst/>
              <a:cxnLst/>
              <a:rect r="r" b="b" t="t" l="l"/>
              <a:pathLst>
                <a:path h="1016579" w="6734218">
                  <a:moveTo>
                    <a:pt x="0" y="0"/>
                  </a:moveTo>
                  <a:lnTo>
                    <a:pt x="6734218" y="0"/>
                  </a:lnTo>
                  <a:lnTo>
                    <a:pt x="6734218" y="1016579"/>
                  </a:lnTo>
                  <a:lnTo>
                    <a:pt x="0" y="10165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076" r="0" b="-790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734213" cy="1064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5"/>
                </a:lnSpc>
              </a:pPr>
              <a:r>
                <a:rPr lang="en-US" sz="2199" spc="-54">
                  <a:solidFill>
                    <a:srgbClr val="5A5A5A"/>
                  </a:solidFill>
                  <a:latin typeface="Inter"/>
                  <a:ea typeface="Inter"/>
                  <a:cs typeface="Inter"/>
                  <a:sym typeface="Inter"/>
                </a:rPr>
                <a:t>Estrutura e cores da árvore no terminal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50004" y="7650004"/>
            <a:ext cx="8000000" cy="2199999"/>
            <a:chOff x="0" y="0"/>
            <a:chExt cx="10666666" cy="2933332"/>
          </a:xfrm>
        </p:grpSpPr>
        <p:sp>
          <p:nvSpPr>
            <p:cNvPr name="Freeform 30" id="30" descr="term_view.png"/>
            <p:cNvSpPr/>
            <p:nvPr/>
          </p:nvSpPr>
          <p:spPr>
            <a:xfrm flipH="false" flipV="false" rot="0">
              <a:off x="0" y="0"/>
              <a:ext cx="10666730" cy="2933319"/>
            </a:xfrm>
            <a:custGeom>
              <a:avLst/>
              <a:gdLst/>
              <a:ahLst/>
              <a:cxnLst/>
              <a:rect r="r" b="b" t="t" l="l"/>
              <a:pathLst>
                <a:path h="2933319" w="10666730">
                  <a:moveTo>
                    <a:pt x="0" y="0"/>
                  </a:moveTo>
                  <a:lnTo>
                    <a:pt x="10666730" y="0"/>
                  </a:lnTo>
                  <a:lnTo>
                    <a:pt x="10666730" y="2933319"/>
                  </a:lnTo>
                  <a:lnTo>
                    <a:pt x="0" y="293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9974" y="528095"/>
            <a:ext cx="8870156" cy="8870156"/>
          </a:xfrm>
          <a:custGeom>
            <a:avLst/>
            <a:gdLst/>
            <a:ahLst/>
            <a:cxnLst/>
            <a:rect r="r" b="b" t="t" l="l"/>
            <a:pathLst>
              <a:path h="8870156" w="8870156">
                <a:moveTo>
                  <a:pt x="0" y="0"/>
                </a:moveTo>
                <a:lnTo>
                  <a:pt x="8870156" y="0"/>
                </a:lnTo>
                <a:lnTo>
                  <a:pt x="8870156" y="8870156"/>
                </a:lnTo>
                <a:lnTo>
                  <a:pt x="0" y="8870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85272" y="5232521"/>
            <a:ext cx="4626559" cy="4626559"/>
            <a:chOff x="0" y="0"/>
            <a:chExt cx="6168746" cy="6168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8771" cy="6168771"/>
            </a:xfrm>
            <a:custGeom>
              <a:avLst/>
              <a:gdLst/>
              <a:ahLst/>
              <a:cxnLst/>
              <a:rect r="r" b="b" t="t" l="l"/>
              <a:pathLst>
                <a:path h="6168771" w="6168771">
                  <a:moveTo>
                    <a:pt x="0" y="0"/>
                  </a:moveTo>
                  <a:lnTo>
                    <a:pt x="6168771" y="0"/>
                  </a:lnTo>
                  <a:lnTo>
                    <a:pt x="6168771" y="6168771"/>
                  </a:lnTo>
                  <a:lnTo>
                    <a:pt x="0" y="616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886424" y="5532053"/>
            <a:ext cx="4027494" cy="4027494"/>
          </a:xfrm>
          <a:custGeom>
            <a:avLst/>
            <a:gdLst/>
            <a:ahLst/>
            <a:cxnLst/>
            <a:rect r="r" b="b" t="t" l="l"/>
            <a:pathLst>
              <a:path h="4027494" w="4027494">
                <a:moveTo>
                  <a:pt x="0" y="0"/>
                </a:moveTo>
                <a:lnTo>
                  <a:pt x="4027494" y="0"/>
                </a:lnTo>
                <a:lnTo>
                  <a:pt x="4027494" y="4027494"/>
                </a:lnTo>
                <a:lnTo>
                  <a:pt x="0" y="40274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49338" y="6665481"/>
            <a:ext cx="5098437" cy="153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571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50K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8610" y="3740525"/>
            <a:ext cx="6472876" cy="234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 spc="-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Testes realizados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352371"/>
            <a:ext cx="6200003" cy="417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b="true" sz="2600" spc="-6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4 cenários: </a:t>
            </a: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inserção crescente, decrescente e aleatória; remoção aleatória.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b="true" sz="2600" spc="-6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Métricas: </a:t>
            </a: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tempo, altura e rotações (média de 5 execuções).</a:t>
            </a:r>
          </a:p>
          <a:p>
            <a:pPr algn="l">
              <a:lnSpc>
                <a:spcPts val="3681"/>
              </a:lnSpc>
            </a:pPr>
          </a:p>
          <a:p>
            <a:pPr algn="l">
              <a:lnSpc>
                <a:spcPts val="3681"/>
              </a:lnSpc>
            </a:pPr>
            <a:r>
              <a:rPr lang="en-US" b="true" sz="2600" spc="-6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Corretude: </a:t>
            </a: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cada operação conferida contra std::set e invariantes de AVL e RB.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4605" y="6302378"/>
            <a:ext cx="4282021" cy="144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8"/>
              </a:lnSpc>
            </a:pPr>
            <a:r>
              <a:rPr lang="en-US" sz="2400" spc="-60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Inserções no maior teste. Tamanhos: 10K, 50K e 100K.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21938" y="7961900"/>
            <a:ext cx="2953245" cy="123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1800" spc="-44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Remoções: metade de cada tamanho (5K, 25K, 50K).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Altura e rotações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4412" y="3335712"/>
            <a:ext cx="7128577" cy="1978571"/>
            <a:chOff x="0" y="0"/>
            <a:chExt cx="9504769" cy="26380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04807" cy="2638171"/>
            </a:xfrm>
            <a:custGeom>
              <a:avLst/>
              <a:gdLst/>
              <a:ahLst/>
              <a:cxnLst/>
              <a:rect r="r" b="b" t="t" l="l"/>
              <a:pathLst>
                <a:path h="2638171" w="9504807">
                  <a:moveTo>
                    <a:pt x="0" y="514096"/>
                  </a:moveTo>
                  <a:cubicBezTo>
                    <a:pt x="0" y="230124"/>
                    <a:pt x="230124" y="0"/>
                    <a:pt x="514096" y="0"/>
                  </a:cubicBezTo>
                  <a:lnTo>
                    <a:pt x="8990711" y="0"/>
                  </a:lnTo>
                  <a:cubicBezTo>
                    <a:pt x="9274683" y="0"/>
                    <a:pt x="9504807" y="230124"/>
                    <a:pt x="9504807" y="514096"/>
                  </a:cubicBezTo>
                  <a:lnTo>
                    <a:pt x="9504807" y="2124075"/>
                  </a:lnTo>
                  <a:cubicBezTo>
                    <a:pt x="9504807" y="2408047"/>
                    <a:pt x="9274683" y="2638171"/>
                    <a:pt x="8990711" y="2638171"/>
                  </a:cubicBezTo>
                  <a:lnTo>
                    <a:pt x="514096" y="2638171"/>
                  </a:lnTo>
                  <a:cubicBezTo>
                    <a:pt x="230124" y="2638044"/>
                    <a:pt x="0" y="2407920"/>
                    <a:pt x="0" y="21240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01" r="0" b="-20199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78696" y="3350000"/>
            <a:ext cx="3000004" cy="1949996"/>
            <a:chOff x="0" y="0"/>
            <a:chExt cx="4000005" cy="25999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0000" cy="2600000"/>
            </a:xfrm>
            <a:custGeom>
              <a:avLst/>
              <a:gdLst/>
              <a:ahLst/>
              <a:cxnLst/>
              <a:rect r="r" b="b" t="t" l="l"/>
              <a:pathLst>
                <a:path h="2600000" w="4000000">
                  <a:moveTo>
                    <a:pt x="0" y="0"/>
                  </a:moveTo>
                  <a:lnTo>
                    <a:pt x="4000000" y="0"/>
                  </a:lnTo>
                  <a:lnTo>
                    <a:pt x="4000000" y="2600000"/>
                  </a:lnTo>
                  <a:lnTo>
                    <a:pt x="0" y="2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000005" cy="2599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 spc="-110">
                  <a:solidFill>
                    <a:srgbClr val="1010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17 × 31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28699" y="3350000"/>
            <a:ext cx="3399996" cy="1949996"/>
            <a:chOff x="0" y="0"/>
            <a:chExt cx="4533328" cy="25999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33333" cy="2600000"/>
            </a:xfrm>
            <a:custGeom>
              <a:avLst/>
              <a:gdLst/>
              <a:ahLst/>
              <a:cxnLst/>
              <a:rect r="r" b="b" t="t" l="l"/>
              <a:pathLst>
                <a:path h="2600000" w="4533333">
                  <a:moveTo>
                    <a:pt x="0" y="0"/>
                  </a:moveTo>
                  <a:lnTo>
                    <a:pt x="4533333" y="0"/>
                  </a:lnTo>
                  <a:lnTo>
                    <a:pt x="4533333" y="2600000"/>
                  </a:lnTo>
                  <a:lnTo>
                    <a:pt x="0" y="2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585" t="0" r="-23585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533328" cy="264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5"/>
                </a:lnSpc>
              </a:pPr>
              <a:r>
                <a:rPr lang="en-US" sz="2199" spc="-54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níveis de altura: AVL × RB na inserção ordenada (100K)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449995"/>
            <a:ext cx="7100002" cy="1949996"/>
            <a:chOff x="0" y="0"/>
            <a:chExt cx="9466669" cy="25999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66580" cy="2599944"/>
            </a:xfrm>
            <a:custGeom>
              <a:avLst/>
              <a:gdLst/>
              <a:ahLst/>
              <a:cxnLst/>
              <a:rect r="r" b="b" t="t" l="l"/>
              <a:pathLst>
                <a:path h="2599944" w="9466580">
                  <a:moveTo>
                    <a:pt x="0" y="506603"/>
                  </a:moveTo>
                  <a:cubicBezTo>
                    <a:pt x="0" y="226822"/>
                    <a:pt x="226822" y="0"/>
                    <a:pt x="506603" y="0"/>
                  </a:cubicBezTo>
                  <a:lnTo>
                    <a:pt x="8959977" y="0"/>
                  </a:lnTo>
                  <a:cubicBezTo>
                    <a:pt x="9239758" y="0"/>
                    <a:pt x="9466580" y="226822"/>
                    <a:pt x="9466580" y="506603"/>
                  </a:cubicBezTo>
                  <a:lnTo>
                    <a:pt x="9466580" y="2093341"/>
                  </a:lnTo>
                  <a:cubicBezTo>
                    <a:pt x="9466580" y="2373122"/>
                    <a:pt x="9239758" y="2599944"/>
                    <a:pt x="8959977" y="2599944"/>
                  </a:cubicBezTo>
                  <a:lnTo>
                    <a:pt x="506603" y="2599944"/>
                  </a:lnTo>
                  <a:cubicBezTo>
                    <a:pt x="226822" y="2599944"/>
                    <a:pt x="0" y="2373122"/>
                    <a:pt x="0" y="2093341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8696" y="5449995"/>
            <a:ext cx="3000004" cy="1949996"/>
            <a:chOff x="0" y="0"/>
            <a:chExt cx="4000005" cy="25999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00000" cy="2600000"/>
            </a:xfrm>
            <a:custGeom>
              <a:avLst/>
              <a:gdLst/>
              <a:ahLst/>
              <a:cxnLst/>
              <a:rect r="r" b="b" t="t" l="l"/>
              <a:pathLst>
                <a:path h="2600000" w="4000000">
                  <a:moveTo>
                    <a:pt x="0" y="0"/>
                  </a:moveTo>
                  <a:lnTo>
                    <a:pt x="4000000" y="0"/>
                  </a:lnTo>
                  <a:lnTo>
                    <a:pt x="4000000" y="2600000"/>
                  </a:lnTo>
                  <a:lnTo>
                    <a:pt x="0" y="2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000005" cy="2599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 spc="-110">
                  <a:solidFill>
                    <a:srgbClr val="F8F8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−17%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28699" y="5449995"/>
            <a:ext cx="3399996" cy="1949996"/>
            <a:chOff x="0" y="0"/>
            <a:chExt cx="4533328" cy="25999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3333" cy="2600000"/>
            </a:xfrm>
            <a:custGeom>
              <a:avLst/>
              <a:gdLst/>
              <a:ahLst/>
              <a:cxnLst/>
              <a:rect r="r" b="b" t="t" l="l"/>
              <a:pathLst>
                <a:path h="2600000" w="4533333">
                  <a:moveTo>
                    <a:pt x="0" y="0"/>
                  </a:moveTo>
                  <a:lnTo>
                    <a:pt x="4533333" y="0"/>
                  </a:lnTo>
                  <a:lnTo>
                    <a:pt x="4533333" y="2600000"/>
                  </a:lnTo>
                  <a:lnTo>
                    <a:pt x="0" y="2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585" t="0" r="-2358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33328" cy="264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5"/>
                </a:lnSpc>
              </a:pPr>
              <a:r>
                <a:rPr lang="en-US" sz="2199" spc="-54">
                  <a:solidFill>
                    <a:srgbClr val="F8F8F8"/>
                  </a:solidFill>
                  <a:latin typeface="Inter"/>
                  <a:ea typeface="Inter"/>
                  <a:cs typeface="Inter"/>
                  <a:sym typeface="Inter"/>
                </a:rPr>
                <a:t>rotações da RB na inserção aleatória (58 mil × 70 mil)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4412" y="7535713"/>
            <a:ext cx="7128577" cy="1978571"/>
            <a:chOff x="0" y="0"/>
            <a:chExt cx="9504769" cy="26380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4807" cy="2638171"/>
            </a:xfrm>
            <a:custGeom>
              <a:avLst/>
              <a:gdLst/>
              <a:ahLst/>
              <a:cxnLst/>
              <a:rect r="r" b="b" t="t" l="l"/>
              <a:pathLst>
                <a:path h="2638171" w="9504807">
                  <a:moveTo>
                    <a:pt x="0" y="514096"/>
                  </a:moveTo>
                  <a:cubicBezTo>
                    <a:pt x="0" y="230124"/>
                    <a:pt x="230124" y="0"/>
                    <a:pt x="514096" y="0"/>
                  </a:cubicBezTo>
                  <a:lnTo>
                    <a:pt x="8990711" y="0"/>
                  </a:lnTo>
                  <a:cubicBezTo>
                    <a:pt x="9274683" y="0"/>
                    <a:pt x="9504807" y="230124"/>
                    <a:pt x="9504807" y="514096"/>
                  </a:cubicBezTo>
                  <a:lnTo>
                    <a:pt x="9504807" y="2124075"/>
                  </a:lnTo>
                  <a:cubicBezTo>
                    <a:pt x="9504807" y="2408047"/>
                    <a:pt x="9274683" y="2638171"/>
                    <a:pt x="8990711" y="2638171"/>
                  </a:cubicBezTo>
                  <a:lnTo>
                    <a:pt x="514096" y="2638171"/>
                  </a:lnTo>
                  <a:cubicBezTo>
                    <a:pt x="230124" y="2638044"/>
                    <a:pt x="0" y="2407920"/>
                    <a:pt x="0" y="21240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01" r="0" b="-20199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78696" y="7550001"/>
            <a:ext cx="3000004" cy="1949996"/>
            <a:chOff x="0" y="0"/>
            <a:chExt cx="4000005" cy="25999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00000" cy="2600000"/>
            </a:xfrm>
            <a:custGeom>
              <a:avLst/>
              <a:gdLst/>
              <a:ahLst/>
              <a:cxnLst/>
              <a:rect r="r" b="b" t="t" l="l"/>
              <a:pathLst>
                <a:path h="2600000" w="4000000">
                  <a:moveTo>
                    <a:pt x="0" y="0"/>
                  </a:moveTo>
                  <a:lnTo>
                    <a:pt x="4000000" y="0"/>
                  </a:lnTo>
                  <a:lnTo>
                    <a:pt x="4000000" y="2600000"/>
                  </a:lnTo>
                  <a:lnTo>
                    <a:pt x="0" y="2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000005" cy="2599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 spc="-110">
                  <a:solidFill>
                    <a:srgbClr val="1010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≈ iguais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28699" y="7550001"/>
            <a:ext cx="3399996" cy="1949996"/>
            <a:chOff x="0" y="0"/>
            <a:chExt cx="4533328" cy="25999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33333" cy="2600000"/>
            </a:xfrm>
            <a:custGeom>
              <a:avLst/>
              <a:gdLst/>
              <a:ahLst/>
              <a:cxnLst/>
              <a:rect r="r" b="b" t="t" l="l"/>
              <a:pathLst>
                <a:path h="2600000" w="4533333">
                  <a:moveTo>
                    <a:pt x="0" y="0"/>
                  </a:moveTo>
                  <a:lnTo>
                    <a:pt x="4533333" y="0"/>
                  </a:lnTo>
                  <a:lnTo>
                    <a:pt x="4533333" y="2600000"/>
                  </a:lnTo>
                  <a:lnTo>
                    <a:pt x="0" y="2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585" t="0" r="-2358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533328" cy="2647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5"/>
                </a:lnSpc>
              </a:pPr>
              <a:r>
                <a:rPr lang="en-US" sz="2199" spc="-54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21 mil × 22 mil rotações na remoção aleatória (50K)</a:t>
              </a: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35000" y="2212722"/>
            <a:ext cx="10380000" cy="4930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735000" y="5735000"/>
            <a:ext cx="10380000" cy="5030000"/>
          </a:xfrm>
          <a:prstGeom prst="rect">
            <a:avLst/>
          </a:prstGeom>
        </p:spPr>
      </p:pic>
      <p:sp>
        <p:nvSpPr>
          <p:cNvPr name="Freeform 29" id="29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Tempo de execução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1300" y="2230000"/>
            <a:ext cx="12840000" cy="8340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1985717" y="3335712"/>
            <a:ext cx="5278574" cy="1878578"/>
            <a:chOff x="0" y="0"/>
            <a:chExt cx="7038099" cy="25047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8086" cy="2504821"/>
            </a:xfrm>
            <a:custGeom>
              <a:avLst/>
              <a:gdLst/>
              <a:ahLst/>
              <a:cxnLst/>
              <a:rect r="r" b="b" t="t" l="l"/>
              <a:pathLst>
                <a:path h="2504821" w="7038086">
                  <a:moveTo>
                    <a:pt x="0" y="514477"/>
                  </a:moveTo>
                  <a:cubicBezTo>
                    <a:pt x="0" y="230378"/>
                    <a:pt x="230378" y="0"/>
                    <a:pt x="514477" y="0"/>
                  </a:cubicBezTo>
                  <a:lnTo>
                    <a:pt x="6523609" y="0"/>
                  </a:lnTo>
                  <a:cubicBezTo>
                    <a:pt x="6807708" y="0"/>
                    <a:pt x="7038086" y="230378"/>
                    <a:pt x="7038086" y="514477"/>
                  </a:cubicBezTo>
                  <a:lnTo>
                    <a:pt x="7038086" y="1990344"/>
                  </a:lnTo>
                  <a:cubicBezTo>
                    <a:pt x="7038086" y="2274443"/>
                    <a:pt x="6807708" y="2504821"/>
                    <a:pt x="6523609" y="2504821"/>
                  </a:cubicBezTo>
                  <a:lnTo>
                    <a:pt x="514477" y="2504821"/>
                  </a:lnTo>
                  <a:cubicBezTo>
                    <a:pt x="230378" y="2504821"/>
                    <a:pt x="0" y="2274443"/>
                    <a:pt x="0" y="199034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50" r="0" b="-4748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50001" y="3350000"/>
            <a:ext cx="1899999" cy="1850003"/>
            <a:chOff x="0" y="0"/>
            <a:chExt cx="2533332" cy="2466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3333" cy="2466667"/>
            </a:xfrm>
            <a:custGeom>
              <a:avLst/>
              <a:gdLst/>
              <a:ahLst/>
              <a:cxnLst/>
              <a:rect r="r" b="b" t="t" l="l"/>
              <a:pathLst>
                <a:path h="2466667" w="2533333">
                  <a:moveTo>
                    <a:pt x="0" y="0"/>
                  </a:moveTo>
                  <a:lnTo>
                    <a:pt x="2533333" y="0"/>
                  </a:lnTo>
                  <a:lnTo>
                    <a:pt x="2533333" y="2466667"/>
                  </a:lnTo>
                  <a:lnTo>
                    <a:pt x="0" y="2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927" t="0" r="-74927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533332" cy="2466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120">
                  <a:solidFill>
                    <a:srgbClr val="1010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4×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50000" y="3350000"/>
            <a:ext cx="2750001" cy="1850003"/>
            <a:chOff x="0" y="0"/>
            <a:chExt cx="3666668" cy="24666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6667" cy="2466667"/>
            </a:xfrm>
            <a:custGeom>
              <a:avLst/>
              <a:gdLst/>
              <a:ahLst/>
              <a:cxnLst/>
              <a:rect r="r" b="b" t="t" l="l"/>
              <a:pathLst>
                <a:path h="2466667" w="3666667">
                  <a:moveTo>
                    <a:pt x="0" y="0"/>
                  </a:moveTo>
                  <a:lnTo>
                    <a:pt x="3666667" y="0"/>
                  </a:lnTo>
                  <a:lnTo>
                    <a:pt x="3666667" y="2466667"/>
                  </a:lnTo>
                  <a:lnTo>
                    <a:pt x="0" y="2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313" t="0" r="-3631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666668" cy="251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2"/>
                </a:lnSpc>
              </a:pPr>
              <a:r>
                <a:rPr lang="en-US" sz="2000" spc="-50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mais rápida: RB na inserção ordenada (54 → 13 ms)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00005" y="5399999"/>
            <a:ext cx="5249999" cy="1850003"/>
            <a:chOff x="0" y="0"/>
            <a:chExt cx="6999999" cy="2466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9986" cy="2466594"/>
            </a:xfrm>
            <a:custGeom>
              <a:avLst/>
              <a:gdLst/>
              <a:ahLst/>
              <a:cxnLst/>
              <a:rect r="r" b="b" t="t" l="l"/>
              <a:pathLst>
                <a:path h="2466594" w="6999986">
                  <a:moveTo>
                    <a:pt x="0" y="506603"/>
                  </a:moveTo>
                  <a:cubicBezTo>
                    <a:pt x="0" y="226822"/>
                    <a:pt x="226822" y="0"/>
                    <a:pt x="506603" y="0"/>
                  </a:cubicBezTo>
                  <a:lnTo>
                    <a:pt x="6493383" y="0"/>
                  </a:lnTo>
                  <a:cubicBezTo>
                    <a:pt x="6773164" y="0"/>
                    <a:pt x="6999986" y="226822"/>
                    <a:pt x="6999986" y="506603"/>
                  </a:cubicBezTo>
                  <a:lnTo>
                    <a:pt x="6999986" y="1959991"/>
                  </a:lnTo>
                  <a:cubicBezTo>
                    <a:pt x="6999986" y="2239772"/>
                    <a:pt x="6773164" y="2466594"/>
                    <a:pt x="6493383" y="2466594"/>
                  </a:cubicBezTo>
                  <a:lnTo>
                    <a:pt x="506603" y="2466594"/>
                  </a:lnTo>
                  <a:cubicBezTo>
                    <a:pt x="226822" y="2466721"/>
                    <a:pt x="0" y="2239772"/>
                    <a:pt x="0" y="1959991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0001" y="5399999"/>
            <a:ext cx="1899999" cy="1850003"/>
            <a:chOff x="0" y="0"/>
            <a:chExt cx="2533332" cy="2466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3333" cy="2466667"/>
            </a:xfrm>
            <a:custGeom>
              <a:avLst/>
              <a:gdLst/>
              <a:ahLst/>
              <a:cxnLst/>
              <a:rect r="r" b="b" t="t" l="l"/>
              <a:pathLst>
                <a:path h="2466667" w="2533333">
                  <a:moveTo>
                    <a:pt x="0" y="0"/>
                  </a:moveTo>
                  <a:lnTo>
                    <a:pt x="2533333" y="0"/>
                  </a:lnTo>
                  <a:lnTo>
                    <a:pt x="2533333" y="2466667"/>
                  </a:lnTo>
                  <a:lnTo>
                    <a:pt x="0" y="2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927" t="0" r="-7492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533332" cy="2466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120">
                  <a:solidFill>
                    <a:srgbClr val="F8F8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2×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50000" y="5399999"/>
            <a:ext cx="2750001" cy="1850003"/>
            <a:chOff x="0" y="0"/>
            <a:chExt cx="3666668" cy="2466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66667" cy="2466667"/>
            </a:xfrm>
            <a:custGeom>
              <a:avLst/>
              <a:gdLst/>
              <a:ahLst/>
              <a:cxnLst/>
              <a:rect r="r" b="b" t="t" l="l"/>
              <a:pathLst>
                <a:path h="2466667" w="3666667">
                  <a:moveTo>
                    <a:pt x="0" y="0"/>
                  </a:moveTo>
                  <a:lnTo>
                    <a:pt x="3666667" y="0"/>
                  </a:lnTo>
                  <a:lnTo>
                    <a:pt x="3666667" y="2466667"/>
                  </a:lnTo>
                  <a:lnTo>
                    <a:pt x="0" y="2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313" t="0" r="-3631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666668" cy="251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2"/>
                </a:lnSpc>
              </a:pPr>
              <a:r>
                <a:rPr lang="en-US" sz="2000" spc="-50">
                  <a:solidFill>
                    <a:srgbClr val="F8F8F8"/>
                  </a:solidFill>
                  <a:latin typeface="Inter"/>
                  <a:ea typeface="Inter"/>
                  <a:cs typeface="Inter"/>
                  <a:sym typeface="Inter"/>
                </a:rPr>
                <a:t>mais rápida: RB na inserção aleatória (68 → 33 ms)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85717" y="7435710"/>
            <a:ext cx="5278574" cy="1878578"/>
            <a:chOff x="0" y="0"/>
            <a:chExt cx="7038099" cy="25047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38086" cy="2504821"/>
            </a:xfrm>
            <a:custGeom>
              <a:avLst/>
              <a:gdLst/>
              <a:ahLst/>
              <a:cxnLst/>
              <a:rect r="r" b="b" t="t" l="l"/>
              <a:pathLst>
                <a:path h="2504821" w="7038086">
                  <a:moveTo>
                    <a:pt x="0" y="514477"/>
                  </a:moveTo>
                  <a:cubicBezTo>
                    <a:pt x="0" y="230378"/>
                    <a:pt x="230378" y="0"/>
                    <a:pt x="514477" y="0"/>
                  </a:cubicBezTo>
                  <a:lnTo>
                    <a:pt x="6523609" y="0"/>
                  </a:lnTo>
                  <a:cubicBezTo>
                    <a:pt x="6807708" y="0"/>
                    <a:pt x="7038086" y="230378"/>
                    <a:pt x="7038086" y="514477"/>
                  </a:cubicBezTo>
                  <a:lnTo>
                    <a:pt x="7038086" y="1990344"/>
                  </a:lnTo>
                  <a:cubicBezTo>
                    <a:pt x="7038086" y="2274443"/>
                    <a:pt x="6807708" y="2504821"/>
                    <a:pt x="6523609" y="2504821"/>
                  </a:cubicBezTo>
                  <a:lnTo>
                    <a:pt x="514477" y="2504821"/>
                  </a:lnTo>
                  <a:cubicBezTo>
                    <a:pt x="230378" y="2504821"/>
                    <a:pt x="0" y="2274443"/>
                    <a:pt x="0" y="199034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50" r="0" b="-4748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350001" y="7449998"/>
            <a:ext cx="1899999" cy="1850003"/>
            <a:chOff x="0" y="0"/>
            <a:chExt cx="2533332" cy="24666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33333" cy="2466667"/>
            </a:xfrm>
            <a:custGeom>
              <a:avLst/>
              <a:gdLst/>
              <a:ahLst/>
              <a:cxnLst/>
              <a:rect r="r" b="b" t="t" l="l"/>
              <a:pathLst>
                <a:path h="2466667" w="2533333">
                  <a:moveTo>
                    <a:pt x="0" y="0"/>
                  </a:moveTo>
                  <a:lnTo>
                    <a:pt x="2533333" y="0"/>
                  </a:lnTo>
                  <a:lnTo>
                    <a:pt x="2533333" y="2466667"/>
                  </a:lnTo>
                  <a:lnTo>
                    <a:pt x="0" y="2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927" t="0" r="-7492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533332" cy="2466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120">
                  <a:solidFill>
                    <a:srgbClr val="1010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1,9×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250000" y="7449998"/>
            <a:ext cx="2750001" cy="1850003"/>
            <a:chOff x="0" y="0"/>
            <a:chExt cx="3666668" cy="24666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66667" cy="2466667"/>
            </a:xfrm>
            <a:custGeom>
              <a:avLst/>
              <a:gdLst/>
              <a:ahLst/>
              <a:cxnLst/>
              <a:rect r="r" b="b" t="t" l="l"/>
              <a:pathLst>
                <a:path h="2466667" w="3666667">
                  <a:moveTo>
                    <a:pt x="0" y="0"/>
                  </a:moveTo>
                  <a:lnTo>
                    <a:pt x="3666667" y="0"/>
                  </a:lnTo>
                  <a:lnTo>
                    <a:pt x="3666667" y="2466667"/>
                  </a:lnTo>
                  <a:lnTo>
                    <a:pt x="0" y="2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313" t="0" r="-3631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666668" cy="251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2"/>
                </a:lnSpc>
              </a:pPr>
              <a:r>
                <a:rPr lang="en-US" sz="2000" spc="-50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mais rápida: RB na remoção aleatória (40 → 21 ms)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9611897"/>
            <a:ext cx="16000000" cy="30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 spc="-44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Média de 5 execuções, semente fixa. Tamanhos: 10K, 50K e 100K (remoção: metade de cada).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52600"/>
            <a:ext cx="3612137" cy="3389624"/>
            <a:chOff x="0" y="0"/>
            <a:chExt cx="4816183" cy="4519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125" cy="4519442"/>
            </a:xfrm>
            <a:custGeom>
              <a:avLst/>
              <a:gdLst/>
              <a:ahLst/>
              <a:cxnLst/>
              <a:rect r="r" b="b" t="t" l="l"/>
              <a:pathLst>
                <a:path h="4519442" w="4816125">
                  <a:moveTo>
                    <a:pt x="0" y="0"/>
                  </a:moveTo>
                  <a:lnTo>
                    <a:pt x="4816125" y="0"/>
                  </a:lnTo>
                  <a:lnTo>
                    <a:pt x="4816125" y="4519442"/>
                  </a:lnTo>
                  <a:lnTo>
                    <a:pt x="0" y="4519442"/>
                  </a:lnTo>
                  <a:close/>
                </a:path>
              </a:pathLst>
            </a:custGeom>
            <a:blipFill>
              <a:blip r:embed="rId3"/>
              <a:stretch>
                <a:fillRect l="-33401" t="0" r="-33402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949996"/>
            <a:ext cx="17199997" cy="13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79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Recomendação técnica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71421"/>
            <a:ext cx="6599996" cy="142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4400" spc="-110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Veredito:</a:t>
            </a:r>
          </a:p>
          <a:p>
            <a:pPr algn="l">
              <a:lnSpc>
                <a:spcPts val="5544"/>
              </a:lnSpc>
            </a:pPr>
            <a:r>
              <a:rPr lang="en-US" b="true" sz="4400" spc="-110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Árvore Rubro-Negra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852378"/>
            <a:ext cx="6299997" cy="20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2600" spc="-65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Melhor equilíbrio entre velocidade e custo de reestruturação. A AVL segue melhor para leitura intensiva.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85712" y="3385709"/>
            <a:ext cx="7792679" cy="2028577"/>
            <a:chOff x="0" y="0"/>
            <a:chExt cx="10390238" cy="2704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90378" cy="2704846"/>
            </a:xfrm>
            <a:custGeom>
              <a:avLst/>
              <a:gdLst/>
              <a:ahLst/>
              <a:cxnLst/>
              <a:rect r="r" b="b" t="t" l="l"/>
              <a:pathLst>
                <a:path h="2704846" w="10390378">
                  <a:moveTo>
                    <a:pt x="0" y="513969"/>
                  </a:moveTo>
                  <a:cubicBezTo>
                    <a:pt x="0" y="230124"/>
                    <a:pt x="193271" y="0"/>
                    <a:pt x="431660" y="0"/>
                  </a:cubicBezTo>
                  <a:lnTo>
                    <a:pt x="9958696" y="0"/>
                  </a:lnTo>
                  <a:cubicBezTo>
                    <a:pt x="10197085" y="0"/>
                    <a:pt x="10390378" y="230124"/>
                    <a:pt x="10390378" y="513969"/>
                  </a:cubicBezTo>
                  <a:lnTo>
                    <a:pt x="10390378" y="2190877"/>
                  </a:lnTo>
                  <a:cubicBezTo>
                    <a:pt x="10390378" y="2474722"/>
                    <a:pt x="10197085" y="2704846"/>
                    <a:pt x="9958696" y="2704846"/>
                  </a:cubicBezTo>
                  <a:lnTo>
                    <a:pt x="431660" y="2704846"/>
                  </a:lnTo>
                  <a:cubicBezTo>
                    <a:pt x="193271" y="2704719"/>
                    <a:pt x="0" y="2474722"/>
                    <a:pt x="0" y="2190877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122" r="-19066" b="-39119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400002" y="3602374"/>
            <a:ext cx="3600002" cy="4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2199" spc="-54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Vantagem 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76002" y="3999948"/>
            <a:ext cx="369999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b="true" sz="5400" spc="-13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4×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76004" y="3399996"/>
            <a:ext cx="4650000" cy="2000002"/>
            <a:chOff x="0" y="0"/>
            <a:chExt cx="6200000" cy="2666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00000" cy="2666667"/>
            </a:xfrm>
            <a:custGeom>
              <a:avLst/>
              <a:gdLst/>
              <a:ahLst/>
              <a:cxnLst/>
              <a:rect r="r" b="b" t="t" l="l"/>
              <a:pathLst>
                <a:path h="2666667" w="6200000">
                  <a:moveTo>
                    <a:pt x="0" y="0"/>
                  </a:moveTo>
                  <a:lnTo>
                    <a:pt x="6200000" y="0"/>
                  </a:lnTo>
                  <a:lnTo>
                    <a:pt x="6200000" y="2666667"/>
                  </a:lnTo>
                  <a:lnTo>
                    <a:pt x="0" y="26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84" t="0" r="-51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200000" cy="271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81"/>
                </a:lnSpc>
              </a:pPr>
              <a:r>
                <a:rPr lang="en-US" sz="2600" spc="-65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mais rápida na inserção ordenada (100K): 13 ms contra 54 ms.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85712" y="5585717"/>
            <a:ext cx="8516217" cy="2028577"/>
            <a:chOff x="0" y="0"/>
            <a:chExt cx="11354956" cy="27047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55095" cy="2704846"/>
            </a:xfrm>
            <a:custGeom>
              <a:avLst/>
              <a:gdLst/>
              <a:ahLst/>
              <a:cxnLst/>
              <a:rect r="r" b="b" t="t" l="l"/>
              <a:pathLst>
                <a:path h="2704846" w="11355095">
                  <a:moveTo>
                    <a:pt x="0" y="513969"/>
                  </a:moveTo>
                  <a:cubicBezTo>
                    <a:pt x="0" y="230124"/>
                    <a:pt x="211216" y="0"/>
                    <a:pt x="471739" y="0"/>
                  </a:cubicBezTo>
                  <a:lnTo>
                    <a:pt x="10883345" y="0"/>
                  </a:lnTo>
                  <a:cubicBezTo>
                    <a:pt x="11143868" y="0"/>
                    <a:pt x="11355095" y="230124"/>
                    <a:pt x="11355095" y="513969"/>
                  </a:cubicBezTo>
                  <a:lnTo>
                    <a:pt x="11355095" y="2190877"/>
                  </a:lnTo>
                  <a:cubicBezTo>
                    <a:pt x="11355095" y="2474722"/>
                    <a:pt x="11143868" y="2704846"/>
                    <a:pt x="10883345" y="2704846"/>
                  </a:cubicBezTo>
                  <a:lnTo>
                    <a:pt x="471739" y="2704846"/>
                  </a:lnTo>
                  <a:cubicBezTo>
                    <a:pt x="211216" y="2704719"/>
                    <a:pt x="0" y="2474722"/>
                    <a:pt x="0" y="2190877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122" r="-8950" b="-39119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400002" y="5802373"/>
            <a:ext cx="3600002" cy="4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2199" spc="-54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Vantagem 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25004" y="6199956"/>
            <a:ext cx="369999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b="true" sz="5400" spc="-13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−17%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25005" y="5600005"/>
            <a:ext cx="4650000" cy="2000002"/>
            <a:chOff x="0" y="0"/>
            <a:chExt cx="6200000" cy="26666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00000" cy="2666667"/>
            </a:xfrm>
            <a:custGeom>
              <a:avLst/>
              <a:gdLst/>
              <a:ahLst/>
              <a:cxnLst/>
              <a:rect r="r" b="b" t="t" l="l"/>
              <a:pathLst>
                <a:path h="2666667" w="6200000">
                  <a:moveTo>
                    <a:pt x="0" y="0"/>
                  </a:moveTo>
                  <a:lnTo>
                    <a:pt x="6200000" y="0"/>
                  </a:lnTo>
                  <a:lnTo>
                    <a:pt x="6200000" y="2666667"/>
                  </a:lnTo>
                  <a:lnTo>
                    <a:pt x="0" y="26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84" t="0" r="-518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200000" cy="271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81"/>
                </a:lnSpc>
              </a:pPr>
              <a:r>
                <a:rPr lang="en-US" sz="2600" spc="-65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de rotações na inserção aleatória: 58 mil contra 70 mil.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985712" y="7785716"/>
            <a:ext cx="9278579" cy="2028577"/>
            <a:chOff x="0" y="0"/>
            <a:chExt cx="12371438" cy="27047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371578" cy="2704846"/>
            </a:xfrm>
            <a:custGeom>
              <a:avLst/>
              <a:gdLst/>
              <a:ahLst/>
              <a:cxnLst/>
              <a:rect r="r" b="b" t="t" l="l"/>
              <a:pathLst>
                <a:path h="2704846" w="12371578">
                  <a:moveTo>
                    <a:pt x="0" y="513969"/>
                  </a:moveTo>
                  <a:cubicBezTo>
                    <a:pt x="0" y="230124"/>
                    <a:pt x="230124" y="0"/>
                    <a:pt x="513969" y="0"/>
                  </a:cubicBezTo>
                  <a:lnTo>
                    <a:pt x="11857610" y="0"/>
                  </a:lnTo>
                  <a:cubicBezTo>
                    <a:pt x="12141454" y="0"/>
                    <a:pt x="12371578" y="230124"/>
                    <a:pt x="12371578" y="513969"/>
                  </a:cubicBezTo>
                  <a:lnTo>
                    <a:pt x="12371578" y="2190877"/>
                  </a:lnTo>
                  <a:cubicBezTo>
                    <a:pt x="12371578" y="2474722"/>
                    <a:pt x="12141454" y="2704846"/>
                    <a:pt x="11857610" y="2704846"/>
                  </a:cubicBezTo>
                  <a:lnTo>
                    <a:pt x="513969" y="2704846"/>
                  </a:lnTo>
                  <a:cubicBezTo>
                    <a:pt x="230124" y="2704719"/>
                    <a:pt x="0" y="2474722"/>
                    <a:pt x="0" y="2190877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122" r="1" b="-39119"/>
              </a:stretch>
            </a:blipFill>
            <a:ln w="28575" cap="sq">
              <a:solidFill>
                <a:srgbClr val="101010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400002" y="8002372"/>
            <a:ext cx="3600002" cy="44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2199" spc="-54">
                <a:solidFill>
                  <a:srgbClr val="5A5A5A"/>
                </a:solidFill>
                <a:latin typeface="Inter"/>
                <a:ea typeface="Inter"/>
                <a:cs typeface="Inter"/>
                <a:sym typeface="Inter"/>
              </a:rPr>
              <a:t>Vantagem 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00002" y="8399955"/>
            <a:ext cx="369999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b="true" sz="5400" spc="-135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O(log n)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00004" y="7800003"/>
            <a:ext cx="4650000" cy="2000000"/>
            <a:chOff x="0" y="0"/>
            <a:chExt cx="6200000" cy="26666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00000" cy="2666664"/>
            </a:xfrm>
            <a:custGeom>
              <a:avLst/>
              <a:gdLst/>
              <a:ahLst/>
              <a:cxnLst/>
              <a:rect r="r" b="b" t="t" l="l"/>
              <a:pathLst>
                <a:path h="2666664" w="6200000">
                  <a:moveTo>
                    <a:pt x="0" y="0"/>
                  </a:moveTo>
                  <a:lnTo>
                    <a:pt x="6200000" y="0"/>
                  </a:lnTo>
                  <a:lnTo>
                    <a:pt x="6200000" y="2666664"/>
                  </a:lnTo>
                  <a:lnTo>
                    <a:pt x="0" y="2666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84" t="0" r="-518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200000" cy="271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81"/>
                </a:lnSpc>
              </a:pPr>
              <a:r>
                <a:rPr lang="en-US" sz="2600" spc="-65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de </a:t>
              </a:r>
              <a:r>
                <a:rPr lang="en-US" sz="2600" spc="-65">
                  <a:solidFill>
                    <a:srgbClr val="101010"/>
                  </a:solidFill>
                  <a:latin typeface="Inter"/>
                  <a:ea typeface="Inter"/>
                  <a:cs typeface="Inter"/>
                  <a:sym typeface="Inter"/>
                </a:rPr>
                <a:t>altura, sempre logarítmica: 31 níveis para 100 mil itens.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66952"/>
            <a:ext cx="9686754" cy="167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44"/>
              </a:lnSpc>
            </a:pPr>
            <a:r>
              <a:rPr lang="en-US" sz="14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Obrigado.</a:t>
            </a:r>
          </a:p>
        </p:txBody>
      </p:sp>
      <p:sp>
        <p:nvSpPr>
          <p:cNvPr name="AutoShape 3" id="3"/>
          <p:cNvSpPr/>
          <p:nvPr/>
        </p:nvSpPr>
        <p:spPr>
          <a:xfrm rot="4020">
            <a:off x="944032" y="8038929"/>
            <a:ext cx="1632479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8577405"/>
            <a:ext cx="1651740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800" spc="-100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Presented by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968740"/>
            <a:ext cx="345015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spc="-100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Renan Pontes, Tech Lead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13389" y="8827722"/>
            <a:ext cx="2763917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0"/>
              </a:lnSpc>
            </a:pPr>
            <a:r>
              <a:rPr lang="en-US" sz="1800" b="true">
                <a:solidFill>
                  <a:srgbClr val="101010"/>
                </a:solidFill>
                <a:latin typeface="Inter Bold"/>
                <a:ea typeface="Inter Bold"/>
                <a:cs typeface="Inter Bold"/>
                <a:sym typeface="Inter Bold"/>
              </a:rPr>
              <a:t>Website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13389" y="9111615"/>
            <a:ext cx="2841041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0"/>
              </a:lnSpc>
            </a:pPr>
            <a:r>
              <a:rPr lang="en-US" sz="1800">
                <a:solidFill>
                  <a:srgbClr val="101010"/>
                </a:solidFill>
                <a:latin typeface="Inter"/>
                <a:ea typeface="Inter"/>
                <a:cs typeface="Inter"/>
                <a:sym typeface="Inter"/>
              </a:rPr>
              <a:t>www.rterminus.com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15454" y="1780003"/>
            <a:ext cx="4206402" cy="80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-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Referências: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5454" y="2661904"/>
            <a:ext cx="6500003" cy="283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spc="-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https://economia.uol.com.br/noticias/reuters/2026/10/14/faturamento-do-e-commerce-na-black-friday-deve-subir-207-diz-pesquisa.htm</a:t>
            </a:r>
          </a:p>
          <a:p>
            <a:pPr algn="l">
              <a:lnSpc>
                <a:spcPts val="2592"/>
              </a:lnSpc>
            </a:pPr>
            <a:r>
              <a:rPr lang="en-US" sz="1800" spc="-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https://brilliant.org/wiki/avl-tree/</a:t>
            </a:r>
          </a:p>
          <a:p>
            <a:pPr algn="l">
              <a:lnSpc>
                <a:spcPts val="2592"/>
              </a:lnSpc>
            </a:pPr>
            <a:r>
              <a:rPr lang="en-US" sz="1800" spc="-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https://brilliant.org/wiki/red-black-tree/</a:t>
            </a:r>
          </a:p>
          <a:p>
            <a:pPr algn="l">
              <a:lnSpc>
                <a:spcPts val="2592"/>
              </a:lnSpc>
            </a:pPr>
            <a:r>
              <a:rPr lang="en-US" sz="1800" spc="-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Cormen, Thomas H., et al. Introduction to Algorithms. 4th ed., The MIT Press, 2022.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454" y="5600005"/>
            <a:ext cx="4019712" cy="80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-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Repositório: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15454" y="6361900"/>
            <a:ext cx="6500003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98" u="sng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  <a:hlinkClick r:id="rId2" tooltip="https://github.com/rterminus/balanced_trees/"/>
              </a:rPr>
              <a:t>https://github.com/rterminus/balanced_trees/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3137" y="4725991"/>
            <a:ext cx="7342261" cy="171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Inteligência artificial foi utilizada para direcionamentos na implementação do código devido à complexidade dos algoritmos, além de sugestões para a apresentação para um melhor fluxo.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66643" y="884044"/>
            <a:ext cx="3181588" cy="803243"/>
          </a:xfrm>
          <a:custGeom>
            <a:avLst/>
            <a:gdLst/>
            <a:ahLst/>
            <a:cxnLst/>
            <a:rect r="r" b="b" t="t" l="l"/>
            <a:pathLst>
              <a:path h="803243" w="3181588">
                <a:moveTo>
                  <a:pt x="0" y="0"/>
                </a:moveTo>
                <a:lnTo>
                  <a:pt x="3181588" y="0"/>
                </a:lnTo>
                <a:lnTo>
                  <a:pt x="3181588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27151" y="884044"/>
            <a:ext cx="2817057" cy="803243"/>
          </a:xfrm>
          <a:custGeom>
            <a:avLst/>
            <a:gdLst/>
            <a:ahLst/>
            <a:cxnLst/>
            <a:rect r="r" b="b" t="t" l="l"/>
            <a:pathLst>
              <a:path h="803243" w="2817057">
                <a:moveTo>
                  <a:pt x="0" y="0"/>
                </a:moveTo>
                <a:lnTo>
                  <a:pt x="2817057" y="0"/>
                </a:lnTo>
                <a:lnTo>
                  <a:pt x="2817057" y="803243"/>
                </a:lnTo>
                <a:lnTo>
                  <a:pt x="0" y="80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01929" y="998620"/>
            <a:ext cx="660054" cy="660054"/>
          </a:xfrm>
          <a:custGeom>
            <a:avLst/>
            <a:gdLst/>
            <a:ahLst/>
            <a:cxnLst/>
            <a:rect r="r" b="b" t="t" l="l"/>
            <a:pathLst>
              <a:path h="660054" w="660054">
                <a:moveTo>
                  <a:pt x="0" y="0"/>
                </a:moveTo>
                <a:lnTo>
                  <a:pt x="660054" y="0"/>
                </a:lnTo>
                <a:lnTo>
                  <a:pt x="660054" y="660054"/>
                </a:lnTo>
                <a:lnTo>
                  <a:pt x="0" y="660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020720">
            <a:off x="16709355" y="1206056"/>
            <a:ext cx="245193" cy="245193"/>
          </a:xfrm>
          <a:custGeom>
            <a:avLst/>
            <a:gdLst/>
            <a:ahLst/>
            <a:cxnLst/>
            <a:rect r="r" b="b" t="t" l="l"/>
            <a:pathLst>
              <a:path h="245193" w="245193">
                <a:moveTo>
                  <a:pt x="0" y="0"/>
                </a:moveTo>
                <a:lnTo>
                  <a:pt x="245193" y="0"/>
                </a:lnTo>
                <a:lnTo>
                  <a:pt x="245193" y="245192"/>
                </a:lnTo>
                <a:lnTo>
                  <a:pt x="0" y="2451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4976" y="1028700"/>
            <a:ext cx="596322" cy="614763"/>
          </a:xfrm>
          <a:custGeom>
            <a:avLst/>
            <a:gdLst/>
            <a:ahLst/>
            <a:cxnLst/>
            <a:rect r="r" b="b" t="t" l="l"/>
            <a:pathLst>
              <a:path h="614763" w="596322">
                <a:moveTo>
                  <a:pt x="0" y="0"/>
                </a:moveTo>
                <a:lnTo>
                  <a:pt x="596322" y="0"/>
                </a:lnTo>
                <a:lnTo>
                  <a:pt x="596322" y="614763"/>
                </a:lnTo>
                <a:lnTo>
                  <a:pt x="0" y="6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40" r="0" b="-3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66637" y="646490"/>
            <a:ext cx="1720586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Amazon</a:t>
            </a:r>
          </a:p>
          <a:p>
            <a:pPr algn="l">
              <a:lnSpc>
                <a:spcPts val="3358"/>
              </a:lnSpc>
            </a:pPr>
            <a:r>
              <a:rPr lang="en-US" sz="2400" spc="-112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59295" y="1104643"/>
            <a:ext cx="279628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Solution Presentation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34006" y="1100814"/>
            <a:ext cx="24033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98">
                <a:solidFill>
                  <a:srgbClr val="424242"/>
                </a:solidFill>
                <a:latin typeface="Inter"/>
                <a:ea typeface="Inter"/>
                <a:cs typeface="Inter"/>
                <a:sym typeface="Inter"/>
              </a:rPr>
              <a:t>October 27,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DAHZIqUrbic</dc:identifier>
  <dcterms:modified xsi:type="dcterms:W3CDTF">2011-08-01T06:04:30Z</dcterms:modified>
  <cp:revision>1</cp:revision>
  <dc:title>black_friday_balanced_trees</dc:title>
</cp:coreProperties>
</file>